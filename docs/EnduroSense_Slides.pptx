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A036E-03B3-478A-962B-AD7B120C4DF5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107FF8-E939-4572-94B9-554E7A5AF3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960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One sentence: instead of predicting minutes of flight left, EnduroSense predicts whether a given battery can complete a given mission, and how sure it is.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07FF8-E939-4572-94B9-554E7A5AF3A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4327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1-in-8 figure is the test-set result: 12.4% of missions that would fail are approved by the minutes-left rule.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07FF8-E939-4572-94B9-554E7A5AF3A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902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Reserve: 22.6 V at rest. Energy available means energy above that reserve, so a successful mission ends with the reserve intact.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07FF8-E939-4572-94B9-554E7A5AF3A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0493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chain reconstruction matters: without it, the same battery would appear in both training and test, and every result would be optimistic.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07FF8-E939-4572-94B9-554E7A5AF3A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69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Error is in watt-hours; a pack has about 65 Wh usable above the reserve, so 2.2 Wh is about 3%.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07FF8-E939-4572-94B9-554E7A5AF3A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9900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Only planning-time inputs are used: distance, commanded speed, payload, altitude, expected wind.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07FF8-E939-4572-94B9-554E7A5AF3A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0555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Model A's ranges held on test. Model B's were too narrow on new data (80% against 90%): a real weakness, reported as such.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07FF8-E939-4572-94B9-554E7A5AF3A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11902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Real test data, picked by a fixed rule. Missions: Flight 177: route R1, 10 m/s, 0 g, 25 m | 2 sorties on one battery: flights 166, 167 | Flight 248: route R1, 4 m/s, 250 g, 75 m. The minutes-left rule says GO for all three.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07FF8-E939-4572-94B9-554E7A5AF3A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3492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Unsafe approval = a mission approved that would have cut into the reserve, as a share of all such missions. Evaluated by pairing real unseen battery states with real unseen missions.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07FF8-E939-4572-94B9-554E7A5AF3A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7209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Only the pairing of batteries with tasks is simulated. Best estimates plus a fixed margin tuned in development does about as well as EnduroSense here.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07FF8-E939-4572-94B9-554E7A5AF3A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1104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These weaknesses were found on the test set. Fixing them and re-scoring on the same test set would make the numbers dishonest, so they are reported as they are.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07FF8-E939-4572-94B9-554E7A5AF3A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96332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verification log (docs/verification_log.md) lists what each pass found and fixed.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07FF8-E939-4572-94B9-554E7A5AF3A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9052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Run: streamlit run app/streamlit_app.py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07FF8-E939-4572-94B9-554E7A5AF3A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343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E901D-CA1A-04BB-2D59-F6BB920C11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B6B16C-68F5-9F91-ED1D-3FC33898F1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7A27B-3C79-B923-E605-0974381C8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47811-5AC3-4474-A815-5801572B89F9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27E25-2274-C5E8-D73C-195BC2B35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EA7B0-A7E8-9573-E54A-F9E364ED0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1135E-8EC1-4654-A988-9EF69C998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70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85D81-2FF9-FD5A-444B-ED497BD9D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2F424-ABD2-6573-06AF-14C02F907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261F0-E98A-A92A-732D-616B9C19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47811-5AC3-4474-A815-5801572B89F9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F3D1F-B0AE-E062-0700-3CF91BAD0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23BB4-2363-7C77-F2A6-3C1CFA63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1135E-8EC1-4654-A988-9EF69C998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236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83862-0086-D3DD-07DD-1BB685DD8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B5F3C0-E171-B351-BCE8-090B617A0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46226-7CE6-D816-9B2D-FB9C762DE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47811-5AC3-4474-A815-5801572B89F9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B5893-3D0B-86F2-D4D5-B835BF94B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B8CBA-6444-034E-6E62-D81B7C661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1135E-8EC1-4654-A988-9EF69C998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161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9425E-8D9C-36E8-1629-C7D9F152E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93E0B-36A4-18F5-3FA2-0FF0DD394E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07BF84-14D9-2FA7-3B81-CF1DC68FE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9615D-6B90-6E3C-3F29-072A6853B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47811-5AC3-4474-A815-5801572B89F9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41FF92-B662-C916-8DCA-531D5D158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4E53C5-CAD6-55E6-7944-0E81E5BE1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1135E-8EC1-4654-A988-9EF69C998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656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8E6DE-CCA2-67FC-8019-1E742DA76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B7BBD-4C85-B4FC-5D3F-F31CA716B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96EE1A-5CC5-6E8A-143F-0DF56B1098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C05498-3606-3540-CDAE-535784912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959AF4-47C5-2CA8-D347-53EAAAABEE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D81860-05FE-4F72-03F6-A8024E2A6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47811-5AC3-4474-A815-5801572B89F9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5367C7-69DB-062F-4503-1054732FA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F2851E-B1BD-5140-952C-00F7D105E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1135E-8EC1-4654-A988-9EF69C998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017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90160-58E3-9906-5E63-0A1A08230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1BCC40-FB37-FFFB-D8F0-04CA31F23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47811-5AC3-4474-A815-5801572B89F9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90E818-6ADB-4CC6-38BA-66B7D6E02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A77D26-1C64-5573-A4EE-30D930806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1135E-8EC1-4654-A988-9EF69C998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978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3B04FE-07E0-0577-D858-365E59C64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47811-5AC3-4474-A815-5801572B89F9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0802A8-1358-E484-C163-088FF0A34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5C99F-0253-25C0-3113-EA58FA5D1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1135E-8EC1-4654-A988-9EF69C998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948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85F1B-0368-E8D8-A6C4-137FCC645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E580C-91EC-7809-F77B-90E073ABB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01CE5C-0CAD-6FAB-E236-C242B68237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15779-59FF-93F3-F483-A1F0717C8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47811-5AC3-4474-A815-5801572B89F9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52277-2E7B-9FEF-3B22-202A933FB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EBA06-489A-78A9-8621-1B9ADBAF8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1135E-8EC1-4654-A988-9EF69C998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937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F5271-BFCD-9468-D62E-0893579D7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7189D4-4F8D-DF78-4A6E-1BCBE2B6B88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12FAF0-AAAA-6A78-7E0E-0A299463A7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EE92B-E5D0-D351-96C9-DD090471F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47811-5AC3-4474-A815-5801572B89F9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9F6FC2-7FB6-BC53-22C1-9173B1F9D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BF4FE6-B2C5-E834-9BCF-FE9997804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1135E-8EC1-4654-A988-9EF69C998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040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07567-C1E9-0CB1-C08C-93EB96F02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13311A-CB90-F10C-75A4-2AEBB0A63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0139B-3E5D-83FB-4DBE-D57AD1424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47811-5AC3-4474-A815-5801572B89F9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C67EB-8818-3B0E-B7C9-2E4A5DD8A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77F15-6B00-8C49-C99A-A2C28E67F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1135E-8EC1-4654-A988-9EF69C998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399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BA6965-CFE7-DD33-7E74-0DDB15AF16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575060-2920-1FD4-5B2A-9D55ED3FD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02AA9-204F-BE6B-4D12-6ECBD88DF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47811-5AC3-4474-A815-5801572B89F9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1196A-8E54-54B5-1924-880AAEBC5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E03EE-4FA3-919F-71D3-7D0E4C3FE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1135E-8EC1-4654-A988-9EF69C998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032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3BD840-29D8-8CC2-A35D-68870EEA1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A1BC9-1689-940A-F6F9-350682F66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E6C82-C497-6671-FE79-A97DEBA15B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347811-5AC3-4474-A815-5801572B89F9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9C3B8-EEAC-017C-5564-CAE22F8036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3D129-C056-E1CF-8267-DAA5CA01E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C1135E-8EC1-4654-A988-9EF69C998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934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EAA4DE-1883-E343-9EE2-E42150DD4B8C}"/>
              </a:ext>
            </a:extLst>
          </p:cNvPr>
          <p:cNvSpPr txBox="1"/>
          <p:nvPr/>
        </p:nvSpPr>
        <p:spPr>
          <a:xfrm>
            <a:off x="548640" y="2011680"/>
            <a:ext cx="11094415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6000" b="1">
                <a:solidFill>
                  <a:srgbClr val="1F5FAE"/>
                </a:solidFill>
                <a:latin typeface="Calibri" panose="020F0502020204030204" pitchFamily="34" charset="0"/>
              </a:rPr>
              <a:t>EnduroSense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221F3E-3D2C-286A-10BD-D19850F1D327}"/>
              </a:ext>
            </a:extLst>
          </p:cNvPr>
          <p:cNvSpPr txBox="1"/>
          <p:nvPr/>
        </p:nvSpPr>
        <p:spPr>
          <a:xfrm>
            <a:off x="548640" y="3154680"/>
            <a:ext cx="11094415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3000">
                <a:solidFill>
                  <a:srgbClr val="0B0B0B"/>
                </a:solidFill>
                <a:latin typeface="Calibri" panose="020F0502020204030204" pitchFamily="34" charset="0"/>
              </a:rPr>
              <a:t>Can this battery fly this mission?</a:t>
            </a:r>
            <a:endParaRPr lang="en-IN" sz="3000">
              <a:solidFill>
                <a:srgbClr val="0B0B0B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1C1758-14F0-00AE-A43A-787C9403B57B}"/>
              </a:ext>
            </a:extLst>
          </p:cNvPr>
          <p:cNvSpPr txBox="1"/>
          <p:nvPr/>
        </p:nvSpPr>
        <p:spPr>
          <a:xfrm>
            <a:off x="548640" y="4114800"/>
            <a:ext cx="11094415" cy="74892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>
                <a:solidFill>
                  <a:srgbClr val="52514E"/>
                </a:solidFill>
                <a:latin typeface="Calibri" panose="020F0502020204030204" pitchFamily="34" charset="0"/>
              </a:rPr>
              <a:t>Uncertainty-aware mission feasibility prediction for UAVs.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52514E"/>
                </a:solidFill>
                <a:latin typeface="Calibri" panose="020F0502020204030204" pitchFamily="34" charset="0"/>
              </a:rPr>
              <a:t>An extension of the intern project “ML-Based UAV Battery / Remaining Flight-Time Prediction”.</a:t>
            </a:r>
            <a:endParaRPr lang="en-IN">
              <a:solidFill>
                <a:srgbClr val="52514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2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3423FC-AA1B-77EB-742A-3B8AF06A4D6D}"/>
              </a:ext>
            </a:extLst>
          </p:cNvPr>
          <p:cNvSpPr txBox="1"/>
          <p:nvPr/>
        </p:nvSpPr>
        <p:spPr>
          <a:xfrm>
            <a:off x="548640" y="384048"/>
            <a:ext cx="11094415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1F5FAE"/>
                </a:solidFill>
                <a:latin typeface="Calibri" panose="020F0502020204030204" pitchFamily="34" charset="0"/>
              </a:rPr>
              <a:t>The brief asks for minutes left. A scheduler needs a different answer.</a:t>
            </a:r>
            <a:endParaRPr lang="en-IN" sz="3000" b="1">
              <a:solidFill>
                <a:srgbClr val="1F5FAE"/>
              </a:solidFill>
              <a:latin typeface="Calibri" panose="020F05020202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CB613EB-59BC-A9CF-980C-E2E2C44E32CD}"/>
              </a:ext>
            </a:extLst>
          </p:cNvPr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 w="12700">
            <a:solidFill>
              <a:srgbClr val="D9D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62892B0-5B11-5CE7-49D6-EF746C68F5EC}"/>
              </a:ext>
            </a:extLst>
          </p:cNvPr>
          <p:cNvSpPr txBox="1"/>
          <p:nvPr/>
        </p:nvSpPr>
        <p:spPr>
          <a:xfrm>
            <a:off x="548640" y="1463040"/>
            <a:ext cx="5760720" cy="322139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54000" indent="-254000">
              <a:spcAft>
                <a:spcPts val="1400"/>
              </a:spcAft>
              <a:buClr>
                <a:srgbClr val="1F5FAE"/>
              </a:buClr>
              <a:buFont typeface="+mj-lt"/>
              <a:buChar char="•"/>
            </a:pPr>
            <a:r>
              <a:rPr lang="en-US" sz="2000" b="1">
                <a:solidFill>
                  <a:srgbClr val="0B0B0B"/>
                </a:solidFill>
                <a:latin typeface="Calibri" panose="020F0502020204030204" pitchFamily="34" charset="0"/>
              </a:rPr>
              <a:t>The brief:</a:t>
            </a:r>
            <a:r>
              <a:rPr lang="en-US" sz="2000">
                <a:solidFill>
                  <a:srgbClr val="0B0B0B"/>
                </a:solidFill>
                <a:latin typeface="Calibri" panose="020F0502020204030204" pitchFamily="34" charset="0"/>
              </a:rPr>
              <a:t> predict the remaining flight time of a UAV battery.</a:t>
            </a:r>
          </a:p>
          <a:p>
            <a:pPr marL="254000" indent="-254000">
              <a:spcAft>
                <a:spcPts val="1400"/>
              </a:spcAft>
              <a:buClr>
                <a:srgbClr val="1F5FAE"/>
              </a:buClr>
              <a:buFont typeface="+mj-lt"/>
              <a:buChar char="•"/>
            </a:pPr>
            <a:r>
              <a:rPr lang="en-US" sz="2000" b="1">
                <a:solidFill>
                  <a:srgbClr val="0B0B0B"/>
                </a:solidFill>
                <a:latin typeface="Calibri" panose="020F0502020204030204" pitchFamily="34" charset="0"/>
              </a:rPr>
              <a:t>The trouble with minutes:</a:t>
            </a:r>
            <a:r>
              <a:rPr lang="en-US" sz="2000">
                <a:solidFill>
                  <a:srgbClr val="0B0B0B"/>
                </a:solidFill>
                <a:latin typeface="Calibri" panose="020F0502020204030204" pitchFamily="34" charset="0"/>
              </a:rPr>
              <a:t> they are computed from the power being drawn now. A drone that is hovering or descending looks as if it has plenty of time, whatever the next mission needs.</a:t>
            </a:r>
          </a:p>
          <a:p>
            <a:pPr marL="254000" indent="-254000">
              <a:spcAft>
                <a:spcPts val="1400"/>
              </a:spcAft>
              <a:buClr>
                <a:srgbClr val="1F5FAE"/>
              </a:buClr>
              <a:buFont typeface="+mj-lt"/>
              <a:buChar char="•"/>
            </a:pPr>
            <a:r>
              <a:rPr lang="en-US" sz="2000" b="1">
                <a:solidFill>
                  <a:srgbClr val="0B0B0B"/>
                </a:solidFill>
                <a:latin typeface="Calibri" panose="020F0502020204030204" pitchFamily="34" charset="0"/>
              </a:rPr>
              <a:t>A single number hides how sure it is.</a:t>
            </a:r>
            <a:r>
              <a:rPr lang="en-US" sz="2000">
                <a:solidFill>
                  <a:srgbClr val="0B0B0B"/>
                </a:solidFill>
                <a:latin typeface="Calibri" panose="020F0502020204030204" pitchFamily="34" charset="0"/>
              </a:rPr>
              <a:t> Two batteries can show the same estimate while one is far less certain.</a:t>
            </a:r>
            <a:endParaRPr lang="en-IN" sz="2000">
              <a:solidFill>
                <a:srgbClr val="0B0B0B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B07901D-29EC-D30E-FCE2-90C54D8C4557}"/>
              </a:ext>
            </a:extLst>
          </p:cNvPr>
          <p:cNvSpPr/>
          <p:nvPr/>
        </p:nvSpPr>
        <p:spPr>
          <a:xfrm>
            <a:off x="6766560" y="1737360"/>
            <a:ext cx="4846320" cy="1371600"/>
          </a:xfrm>
          <a:prstGeom prst="roundRect">
            <a:avLst>
              <a:gd name="adj" fmla="val 12000"/>
            </a:avLst>
          </a:prstGeom>
          <a:solidFill>
            <a:srgbClr val="F2F1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>
                <a:solidFill>
                  <a:srgbClr val="0B0B0B"/>
                </a:solidFill>
                <a:latin typeface="Calibri" panose="020F0502020204030204" pitchFamily="34" charset="0"/>
              </a:rPr>
              <a:t>Minutes left ≥ mission duration?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C83BDD-73FD-8FC6-F292-2065F1B6B884}"/>
              </a:ext>
            </a:extLst>
          </p:cNvPr>
          <p:cNvSpPr txBox="1"/>
          <p:nvPr/>
        </p:nvSpPr>
        <p:spPr>
          <a:xfrm>
            <a:off x="6766560" y="3246120"/>
            <a:ext cx="484632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spcAft>
                <a:spcPts val="800"/>
              </a:spcAft>
            </a:pPr>
            <a:r>
              <a:rPr lang="en-US" sz="1600">
                <a:solidFill>
                  <a:srgbClr val="C0392B"/>
                </a:solidFill>
                <a:latin typeface="Calibri" panose="020F0502020204030204" pitchFamily="34" charset="0"/>
              </a:rPr>
              <a:t>approves 1 in 8 missions that would cut into the reserve</a:t>
            </a:r>
            <a:endParaRPr lang="en-IN" sz="1600">
              <a:solidFill>
                <a:srgbClr val="C0392B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9A5386A-2F61-5C4B-11CD-C0FDD6A32F8C}"/>
              </a:ext>
            </a:extLst>
          </p:cNvPr>
          <p:cNvSpPr/>
          <p:nvPr/>
        </p:nvSpPr>
        <p:spPr>
          <a:xfrm>
            <a:off x="6766560" y="4114800"/>
            <a:ext cx="4846320" cy="1371600"/>
          </a:xfrm>
          <a:prstGeom prst="roundRect">
            <a:avLst>
              <a:gd name="adj" fmla="val 12000"/>
            </a:avLst>
          </a:prstGeom>
          <a:solidFill>
            <a:srgbClr val="EAF1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1F5FAE"/>
                </a:solidFill>
                <a:latin typeface="Calibri" panose="020F0502020204030204" pitchFamily="34" charset="0"/>
              </a:rPr>
              <a:t>What is the chance this battery has the energy this mission needs?</a:t>
            </a:r>
            <a:endParaRPr lang="en-IN" sz="2200" b="1">
              <a:solidFill>
                <a:srgbClr val="1F5FAE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E29235-EB82-811D-10E6-F9A5F697819C}"/>
              </a:ext>
            </a:extLst>
          </p:cNvPr>
          <p:cNvSpPr txBox="1"/>
          <p:nvPr/>
        </p:nvSpPr>
        <p:spPr>
          <a:xfrm>
            <a:off x="548640" y="6446520"/>
            <a:ext cx="11094415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>
                <a:solidFill>
                  <a:srgbClr val="8A8982"/>
                </a:solidFill>
                <a:latin typeface="Calibri" panose="020F0502020204030204" pitchFamily="34" charset="0"/>
              </a:rPr>
              <a:t>EnduroSense   |   2</a:t>
            </a:r>
          </a:p>
        </p:txBody>
      </p:sp>
    </p:spTree>
    <p:extLst>
      <p:ext uri="{BB962C8B-B14F-4D97-AF65-F5344CB8AC3E}">
        <p14:creationId xmlns:p14="http://schemas.microsoft.com/office/powerpoint/2010/main" val="601922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4C636C-30F9-2B36-045F-F6701429EFD4}"/>
              </a:ext>
            </a:extLst>
          </p:cNvPr>
          <p:cNvSpPr txBox="1"/>
          <p:nvPr/>
        </p:nvSpPr>
        <p:spPr>
          <a:xfrm>
            <a:off x="548640" y="384048"/>
            <a:ext cx="11094415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1F5FAE"/>
                </a:solidFill>
                <a:latin typeface="Calibri" panose="020F0502020204030204" pitchFamily="34" charset="0"/>
              </a:rPr>
              <a:t>The idea: predict two energies, each with an honest range</a:t>
            </a:r>
            <a:endParaRPr lang="en-IN" sz="3000" b="1">
              <a:solidFill>
                <a:srgbClr val="1F5FAE"/>
              </a:solidFill>
              <a:latin typeface="Calibri" panose="020F05020202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40D706F-8949-0FC2-2C02-0DFDB17C1F92}"/>
              </a:ext>
            </a:extLst>
          </p:cNvPr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 w="12700">
            <a:solidFill>
              <a:srgbClr val="D9D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B8A57FB-B182-3A6D-DA95-063BE7A904D6}"/>
              </a:ext>
            </a:extLst>
          </p:cNvPr>
          <p:cNvSpPr/>
          <p:nvPr/>
        </p:nvSpPr>
        <p:spPr>
          <a:xfrm>
            <a:off x="548640" y="1737360"/>
            <a:ext cx="3291840" cy="1828800"/>
          </a:xfrm>
          <a:prstGeom prst="roundRect">
            <a:avLst>
              <a:gd name="adj" fmla="val 12000"/>
            </a:avLst>
          </a:prstGeom>
          <a:solidFill>
            <a:srgbClr val="EAF1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>
                <a:solidFill>
                  <a:srgbClr val="1F5FAE"/>
                </a:solidFill>
                <a:latin typeface="Calibri" panose="020F0502020204030204" pitchFamily="34" charset="0"/>
              </a:rPr>
              <a:t>Energy available
(Model A)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17B4D-88D5-A9F1-F54E-CF26AF72AAA7}"/>
              </a:ext>
            </a:extLst>
          </p:cNvPr>
          <p:cNvSpPr txBox="1"/>
          <p:nvPr/>
        </p:nvSpPr>
        <p:spPr>
          <a:xfrm>
            <a:off x="548640" y="3657600"/>
            <a:ext cx="329184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spcAft>
                <a:spcPts val="800"/>
              </a:spcAft>
            </a:pPr>
            <a:r>
              <a:rPr lang="en-US" sz="1600">
                <a:solidFill>
                  <a:srgbClr val="52514E"/>
                </a:solidFill>
                <a:latin typeface="Calibri" panose="020F0502020204030204" pitchFamily="34" charset="0"/>
              </a:rPr>
              <a:t>From battery telemetry: how many watt-hours are left above a safe reserve.</a:t>
            </a:r>
            <a:endParaRPr lang="en-IN" sz="1600">
              <a:solidFill>
                <a:srgbClr val="52514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5ECEC3D-AFF3-152E-6B71-028742E017D0}"/>
              </a:ext>
            </a:extLst>
          </p:cNvPr>
          <p:cNvSpPr/>
          <p:nvPr/>
        </p:nvSpPr>
        <p:spPr>
          <a:xfrm>
            <a:off x="4434840" y="1737360"/>
            <a:ext cx="3291840" cy="1828800"/>
          </a:xfrm>
          <a:prstGeom prst="roundRect">
            <a:avLst>
              <a:gd name="adj" fmla="val 12000"/>
            </a:avLst>
          </a:prstGeom>
          <a:solidFill>
            <a:srgbClr val="FDEE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>
                <a:solidFill>
                  <a:srgbClr val="B4491C"/>
                </a:solidFill>
                <a:latin typeface="Calibri" panose="020F0502020204030204" pitchFamily="34" charset="0"/>
              </a:rPr>
              <a:t>Energy required
(Model B)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F48521-65CC-3C42-E6CB-98BC919F2286}"/>
              </a:ext>
            </a:extLst>
          </p:cNvPr>
          <p:cNvSpPr txBox="1"/>
          <p:nvPr/>
        </p:nvSpPr>
        <p:spPr>
          <a:xfrm>
            <a:off x="4434840" y="3657600"/>
            <a:ext cx="329184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spcAft>
                <a:spcPts val="800"/>
              </a:spcAft>
            </a:pPr>
            <a:r>
              <a:rPr lang="en-US" sz="1600">
                <a:solidFill>
                  <a:srgbClr val="52514E"/>
                </a:solidFill>
                <a:latin typeface="Calibri" panose="020F0502020204030204" pitchFamily="34" charset="0"/>
              </a:rPr>
              <a:t>From the mission plan: distance, speed, payload, altitude, wind.</a:t>
            </a:r>
            <a:endParaRPr lang="en-IN" sz="1600">
              <a:solidFill>
                <a:srgbClr val="52514E"/>
              </a:solidFill>
              <a:latin typeface="Calibri" panose="020F0502020204030204" pitchFamily="34" charset="0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38B3A701-589B-C9F6-A86C-E244BBC05273}"/>
              </a:ext>
            </a:extLst>
          </p:cNvPr>
          <p:cNvSpPr/>
          <p:nvPr/>
        </p:nvSpPr>
        <p:spPr>
          <a:xfrm>
            <a:off x="7863840" y="2331720"/>
            <a:ext cx="640080" cy="640080"/>
          </a:xfrm>
          <a:prstGeom prst="rightArrow">
            <a:avLst/>
          </a:prstGeom>
          <a:solidFill>
            <a:srgbClr val="9A999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B0B0B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67E58C-C4E3-25FB-0C46-B5B76947A576}"/>
              </a:ext>
            </a:extLst>
          </p:cNvPr>
          <p:cNvSpPr/>
          <p:nvPr/>
        </p:nvSpPr>
        <p:spPr>
          <a:xfrm>
            <a:off x="8641080" y="1737360"/>
            <a:ext cx="3017520" cy="1828800"/>
          </a:xfrm>
          <a:prstGeom prst="roundRect">
            <a:avLst>
              <a:gd name="adj" fmla="val 12000"/>
            </a:avLst>
          </a:prstGeom>
          <a:solidFill>
            <a:srgbClr val="E8F5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>
                <a:solidFill>
                  <a:srgbClr val="0C7A0C"/>
                </a:solidFill>
                <a:latin typeface="Calibri" panose="020F0502020204030204" pitchFamily="34" charset="0"/>
              </a:rPr>
              <a:t>P(success)
≥ 95% 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CD028D-0978-0D1D-1A01-F34289156717}"/>
              </a:ext>
            </a:extLst>
          </p:cNvPr>
          <p:cNvSpPr txBox="1"/>
          <p:nvPr/>
        </p:nvSpPr>
        <p:spPr>
          <a:xfrm>
            <a:off x="8641080" y="3657600"/>
            <a:ext cx="301752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spcAft>
                <a:spcPts val="800"/>
              </a:spcAft>
            </a:pPr>
            <a:r>
              <a:rPr lang="en-US" sz="1600">
                <a:solidFill>
                  <a:srgbClr val="52514E"/>
                </a:solidFill>
                <a:latin typeface="Calibri" panose="020F0502020204030204" pitchFamily="34" charset="0"/>
              </a:rPr>
              <a:t>Approve only if the battery covers the mission with high probability.</a:t>
            </a:r>
            <a:endParaRPr lang="en-IN" sz="1600">
              <a:solidFill>
                <a:srgbClr val="52514E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5EDD6A-AC1A-E9BF-C526-0CE2BE6F5776}"/>
              </a:ext>
            </a:extLst>
          </p:cNvPr>
          <p:cNvSpPr txBox="1"/>
          <p:nvPr/>
        </p:nvSpPr>
        <p:spPr>
          <a:xfrm>
            <a:off x="548640" y="5394960"/>
            <a:ext cx="11094415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>
                <a:solidFill>
                  <a:srgbClr val="0B0B0B"/>
                </a:solidFill>
                <a:latin typeface="Calibri" panose="020F0502020204030204" pitchFamily="34" charset="0"/>
              </a:rPr>
              <a:t>Energy adds up across the parts of a mission; minutes do not. A range says how sure each prediction is.</a:t>
            </a:r>
            <a:endParaRPr lang="en-IN">
              <a:solidFill>
                <a:srgbClr val="0B0B0B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F2FC61-5580-4B3D-0E30-DF286269F049}"/>
              </a:ext>
            </a:extLst>
          </p:cNvPr>
          <p:cNvSpPr txBox="1"/>
          <p:nvPr/>
        </p:nvSpPr>
        <p:spPr>
          <a:xfrm>
            <a:off x="548640" y="6446520"/>
            <a:ext cx="11094415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>
                <a:solidFill>
                  <a:srgbClr val="8A8982"/>
                </a:solidFill>
                <a:latin typeface="Calibri" panose="020F0502020204030204" pitchFamily="34" charset="0"/>
              </a:rPr>
              <a:t>EnduroSense   |   3</a:t>
            </a:r>
          </a:p>
        </p:txBody>
      </p:sp>
    </p:spTree>
    <p:extLst>
      <p:ext uri="{BB962C8B-B14F-4D97-AF65-F5344CB8AC3E}">
        <p14:creationId xmlns:p14="http://schemas.microsoft.com/office/powerpoint/2010/main" val="2533677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3C72EB-9788-9D86-9D3B-3A94585A941D}"/>
              </a:ext>
            </a:extLst>
          </p:cNvPr>
          <p:cNvSpPr txBox="1"/>
          <p:nvPr/>
        </p:nvSpPr>
        <p:spPr>
          <a:xfrm>
            <a:off x="548640" y="384048"/>
            <a:ext cx="11094415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1F5FAE"/>
                </a:solidFill>
                <a:latin typeface="Calibri" panose="020F0502020204030204" pitchFamily="34" charset="0"/>
              </a:rPr>
              <a:t>Data: 209 real flights, and a test set locked away from the start</a:t>
            </a:r>
            <a:endParaRPr lang="en-IN" sz="3000" b="1">
              <a:solidFill>
                <a:srgbClr val="1F5FAE"/>
              </a:solidFill>
              <a:latin typeface="Calibri" panose="020F05020202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D95617D-5377-2E87-6DB0-1AA497AB3274}"/>
              </a:ext>
            </a:extLst>
          </p:cNvPr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 w="12700">
            <a:solidFill>
              <a:srgbClr val="D9D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D28FB58-6E05-2004-BF24-403CCB1FD518}"/>
              </a:ext>
            </a:extLst>
          </p:cNvPr>
          <p:cNvSpPr txBox="1"/>
          <p:nvPr/>
        </p:nvSpPr>
        <p:spPr>
          <a:xfrm>
            <a:off x="548640" y="1554480"/>
            <a:ext cx="256032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4400" b="1">
                <a:solidFill>
                  <a:srgbClr val="1F5FAE"/>
                </a:solidFill>
                <a:latin typeface="Calibri" panose="020F0502020204030204" pitchFamily="34" charset="0"/>
              </a:rPr>
              <a:t>209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5AFF6E-ACBC-08EA-D3B7-968E3A42F43F}"/>
              </a:ext>
            </a:extLst>
          </p:cNvPr>
          <p:cNvSpPr txBox="1"/>
          <p:nvPr/>
        </p:nvSpPr>
        <p:spPr>
          <a:xfrm>
            <a:off x="548640" y="2423160"/>
            <a:ext cx="2560320" cy="68736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600">
                <a:solidFill>
                  <a:srgbClr val="52514E"/>
                </a:solidFill>
                <a:latin typeface="Calibri" panose="020F0502020204030204" pitchFamily="34" charset="0"/>
              </a:rPr>
              <a:t>flights of a DJI Matrice 100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52514E"/>
                </a:solidFill>
                <a:latin typeface="Calibri" panose="020F0502020204030204" pitchFamily="34" charset="0"/>
              </a:rPr>
              <a:t>(Carnegie Mellon, public)</a:t>
            </a:r>
            <a:endParaRPr lang="en-IN" sz="1600">
              <a:solidFill>
                <a:srgbClr val="52514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CD7B97-374B-FE27-5D56-D4B69DBA12EF}"/>
              </a:ext>
            </a:extLst>
          </p:cNvPr>
          <p:cNvSpPr txBox="1"/>
          <p:nvPr/>
        </p:nvSpPr>
        <p:spPr>
          <a:xfrm>
            <a:off x="3383280" y="1554480"/>
            <a:ext cx="256032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4400" b="1">
                <a:solidFill>
                  <a:srgbClr val="1F5FAE"/>
                </a:solidFill>
                <a:latin typeface="Calibri" panose="020F0502020204030204" pitchFamily="34" charset="0"/>
              </a:rPr>
              <a:t>90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5F037A-8658-1544-EDD4-ED6E7A0C375B}"/>
              </a:ext>
            </a:extLst>
          </p:cNvPr>
          <p:cNvSpPr txBox="1"/>
          <p:nvPr/>
        </p:nvSpPr>
        <p:spPr>
          <a:xfrm>
            <a:off x="3383280" y="2423160"/>
            <a:ext cx="2560320" cy="93358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600">
                <a:solidFill>
                  <a:srgbClr val="52514E"/>
                </a:solidFill>
                <a:latin typeface="Calibri" panose="020F0502020204030204" pitchFamily="34" charset="0"/>
              </a:rPr>
              <a:t>battery chains: flights linked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52514E"/>
                </a:solidFill>
                <a:latin typeface="Calibri" panose="020F0502020204030204" pitchFamily="34" charset="0"/>
              </a:rPr>
              <a:t>by battery from rest voltages</a:t>
            </a:r>
            <a:endParaRPr lang="en-IN" sz="1600">
              <a:solidFill>
                <a:srgbClr val="52514E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DD30FC-FA8D-4944-1D5A-3DB3AA469A37}"/>
              </a:ext>
            </a:extLst>
          </p:cNvPr>
          <p:cNvSpPr txBox="1"/>
          <p:nvPr/>
        </p:nvSpPr>
        <p:spPr>
          <a:xfrm>
            <a:off x="6217920" y="1554480"/>
            <a:ext cx="256032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4400" b="1">
                <a:solidFill>
                  <a:srgbClr val="1F5FAE"/>
                </a:solidFill>
                <a:latin typeface="Calibri" panose="020F0502020204030204" pitchFamily="34" charset="0"/>
              </a:rPr>
              <a:t>16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DBCB05-ABEB-1567-A208-2540C15C6E2E}"/>
              </a:ext>
            </a:extLst>
          </p:cNvPr>
          <p:cNvSpPr txBox="1"/>
          <p:nvPr/>
        </p:nvSpPr>
        <p:spPr>
          <a:xfrm>
            <a:off x="6217920" y="2423160"/>
            <a:ext cx="2560320" cy="93358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600">
                <a:solidFill>
                  <a:srgbClr val="52514E"/>
                </a:solidFill>
                <a:latin typeface="Calibri" panose="020F0502020204030204" pitchFamily="34" charset="0"/>
              </a:rPr>
              <a:t>chains (40 flights) locked away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52514E"/>
                </a:solidFill>
                <a:latin typeface="Calibri" panose="020F0502020204030204" pitchFamily="34" charset="0"/>
              </a:rPr>
              <a:t>before any modelling</a:t>
            </a:r>
            <a:endParaRPr lang="en-IN" sz="1600">
              <a:solidFill>
                <a:srgbClr val="52514E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4EDDCD-2253-78DD-FC17-78AB1C80FC9F}"/>
              </a:ext>
            </a:extLst>
          </p:cNvPr>
          <p:cNvSpPr txBox="1"/>
          <p:nvPr/>
        </p:nvSpPr>
        <p:spPr>
          <a:xfrm>
            <a:off x="9052560" y="1554480"/>
            <a:ext cx="256032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4400" b="1">
                <a:solidFill>
                  <a:srgbClr val="1F5FAE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E4D8E0-3697-3611-F3C6-A9C99FAAA1D6}"/>
              </a:ext>
            </a:extLst>
          </p:cNvPr>
          <p:cNvSpPr txBox="1"/>
          <p:nvPr/>
        </p:nvSpPr>
        <p:spPr>
          <a:xfrm>
            <a:off x="9052560" y="2423160"/>
            <a:ext cx="2560320" cy="11798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600">
                <a:solidFill>
                  <a:srgbClr val="52514E"/>
                </a:solidFill>
                <a:latin typeface="Calibri" panose="020F0502020204030204" pitchFamily="34" charset="0"/>
              </a:rPr>
              <a:t>success criteria written down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52514E"/>
                </a:solidFill>
                <a:latin typeface="Calibri" panose="020F0502020204030204" pitchFamily="34" charset="0"/>
              </a:rPr>
              <a:t>before the test set was opened</a:t>
            </a:r>
            <a:endParaRPr lang="en-IN" sz="1600">
              <a:solidFill>
                <a:srgbClr val="52514E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A5B9F2-8EA5-189B-DFF0-853394806FFC}"/>
              </a:ext>
            </a:extLst>
          </p:cNvPr>
          <p:cNvSpPr txBox="1"/>
          <p:nvPr/>
        </p:nvSpPr>
        <p:spPr>
          <a:xfrm>
            <a:off x="548640" y="4114800"/>
            <a:ext cx="11094415" cy="173380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54000" indent="-254000">
              <a:spcAft>
                <a:spcPts val="1000"/>
              </a:spcAft>
              <a:buClr>
                <a:srgbClr val="1F5FAE"/>
              </a:buClr>
              <a:buFont typeface="+mj-lt"/>
              <a:buChar char="•"/>
            </a:pPr>
            <a:r>
              <a:rPr lang="en-US" b="1">
                <a:solidFill>
                  <a:srgbClr val="0B0B0B"/>
                </a:solidFill>
                <a:latin typeface="Calibri" panose="020F0502020204030204" pitchFamily="34" charset="0"/>
              </a:rPr>
              <a:t>Never split a battery:</a:t>
            </a:r>
            <a:r>
              <a:rPr lang="en-US">
                <a:solidFill>
                  <a:srgbClr val="0B0B0B"/>
                </a:solidFill>
                <a:latin typeface="Calibri" panose="020F0502020204030204" pitchFamily="34" charset="0"/>
              </a:rPr>
              <a:t> readings from one battery are not independent, so a battery is entirely in training or entirely in test.</a:t>
            </a:r>
          </a:p>
          <a:p>
            <a:pPr marL="254000" indent="-254000">
              <a:spcAft>
                <a:spcPts val="1000"/>
              </a:spcAft>
              <a:buClr>
                <a:srgbClr val="1F5FAE"/>
              </a:buClr>
              <a:buFont typeface="+mj-lt"/>
              <a:buChar char="•"/>
            </a:pPr>
            <a:r>
              <a:rPr lang="en-US" b="1">
                <a:solidFill>
                  <a:srgbClr val="0B0B0B"/>
                </a:solidFill>
                <a:latin typeface="Calibri" panose="020F0502020204030204" pitchFamily="34" charset="0"/>
              </a:rPr>
              <a:t>The test set includes routes never flown in development,</a:t>
            </a:r>
            <a:r>
              <a:rPr lang="en-US">
                <a:solidFill>
                  <a:srgbClr val="0B0B0B"/>
                </a:solidFill>
                <a:latin typeface="Calibri" panose="020F0502020204030204" pitchFamily="34" charset="0"/>
              </a:rPr>
              <a:t> among them the longest.</a:t>
            </a:r>
          </a:p>
          <a:p>
            <a:pPr marL="254000" indent="-254000">
              <a:spcAft>
                <a:spcPts val="1000"/>
              </a:spcAft>
              <a:buClr>
                <a:srgbClr val="1F5FAE"/>
              </a:buClr>
              <a:buFont typeface="+mj-lt"/>
              <a:buChar char="•"/>
            </a:pPr>
            <a:r>
              <a:rPr lang="en-US" b="1">
                <a:solidFill>
                  <a:srgbClr val="0B0B0B"/>
                </a:solidFill>
                <a:latin typeface="Calibri" panose="020F0502020204030204" pitchFamily="34" charset="0"/>
              </a:rPr>
              <a:t>Data problems found and fixed:</a:t>
            </a:r>
            <a:r>
              <a:rPr lang="en-US">
                <a:solidFill>
                  <a:srgbClr val="0B0B0B"/>
                </a:solidFill>
                <a:latin typeface="Calibri" panose="020F0502020204030204" pitchFamily="34" charset="0"/>
              </a:rPr>
              <a:t> start times sorted as text, four mis-logged times, a sign error in the dataset’s documentation.</a:t>
            </a:r>
            <a:endParaRPr lang="en-IN">
              <a:solidFill>
                <a:srgbClr val="0B0B0B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770F11-CACE-C57C-6213-E38A8C688B61}"/>
              </a:ext>
            </a:extLst>
          </p:cNvPr>
          <p:cNvSpPr txBox="1"/>
          <p:nvPr/>
        </p:nvSpPr>
        <p:spPr>
          <a:xfrm>
            <a:off x="548640" y="6446520"/>
            <a:ext cx="11094415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>
                <a:solidFill>
                  <a:srgbClr val="8A8982"/>
                </a:solidFill>
                <a:latin typeface="Calibri" panose="020F0502020204030204" pitchFamily="34" charset="0"/>
              </a:rPr>
              <a:t>EnduroSense   |   4</a:t>
            </a:r>
          </a:p>
        </p:txBody>
      </p:sp>
    </p:spTree>
    <p:extLst>
      <p:ext uri="{BB962C8B-B14F-4D97-AF65-F5344CB8AC3E}">
        <p14:creationId xmlns:p14="http://schemas.microsoft.com/office/powerpoint/2010/main" val="3010819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5389FB-70A6-F3A3-A31A-E61B15367E4A}"/>
              </a:ext>
            </a:extLst>
          </p:cNvPr>
          <p:cNvSpPr txBox="1"/>
          <p:nvPr/>
        </p:nvSpPr>
        <p:spPr>
          <a:xfrm>
            <a:off x="548640" y="384048"/>
            <a:ext cx="11094415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3000" b="1">
                <a:solidFill>
                  <a:srgbClr val="1F5FAE"/>
                </a:solidFill>
                <a:latin typeface="Calibri" panose="020F0502020204030204" pitchFamily="34" charset="0"/>
              </a:rPr>
              <a:t>Model A: energy available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6AB3B7D-2E99-0C65-E6A8-3C0FFD022F35}"/>
              </a:ext>
            </a:extLst>
          </p:cNvPr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 w="12700">
            <a:solidFill>
              <a:srgbClr val="D9D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51A112D1-7497-3B11-64E0-E57F39CC1A1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371600"/>
            <a:ext cx="6766560" cy="33832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F57F3B-0258-E521-303A-6E8A56D282F3}"/>
              </a:ext>
            </a:extLst>
          </p:cNvPr>
          <p:cNvSpPr txBox="1"/>
          <p:nvPr/>
        </p:nvSpPr>
        <p:spPr>
          <a:xfrm>
            <a:off x="7589520" y="1463040"/>
            <a:ext cx="4114800" cy="33547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54000" indent="-254000">
              <a:spcAft>
                <a:spcPts val="1000"/>
              </a:spcAft>
              <a:buClr>
                <a:srgbClr val="1F5FAE"/>
              </a:buClr>
              <a:buFont typeface="+mj-lt"/>
              <a:buChar char="•"/>
            </a:pPr>
            <a:r>
              <a:rPr lang="en-US" sz="1700" b="1">
                <a:solidFill>
                  <a:srgbClr val="0B0B0B"/>
                </a:solidFill>
                <a:latin typeface="Calibri" panose="020F0502020204030204" pitchFamily="34" charset="0"/>
              </a:rPr>
              <a:t>All five algorithms in the brief compared,</a:t>
            </a:r>
            <a:r>
              <a:rPr lang="en-US" sz="1700">
                <a:solidFill>
                  <a:srgbClr val="0B0B0B"/>
                </a:solidFill>
                <a:latin typeface="Calibri" panose="020F0502020204030204" pitchFamily="34" charset="0"/>
              </a:rPr>
              <a:t> plus three baselines that need no machine learning.</a:t>
            </a:r>
          </a:p>
          <a:p>
            <a:pPr marL="254000" indent="-254000">
              <a:spcAft>
                <a:spcPts val="1000"/>
              </a:spcAft>
              <a:buClr>
                <a:srgbClr val="1F5FAE"/>
              </a:buClr>
              <a:buFont typeface="+mj-lt"/>
              <a:buChar char="•"/>
            </a:pPr>
            <a:r>
              <a:rPr lang="en-US" sz="1700" b="1">
                <a:solidFill>
                  <a:srgbClr val="0B0B0B"/>
                </a:solidFill>
                <a:latin typeface="Calibri" panose="020F0502020204030204" pitchFamily="34" charset="0"/>
              </a:rPr>
              <a:t>Main model: five GRUs averaged.</a:t>
            </a:r>
            <a:r>
              <a:rPr lang="en-US" sz="1700">
                <a:solidFill>
                  <a:srgbClr val="0B0B0B"/>
                </a:solidFill>
                <a:latin typeface="Calibri" panose="020F0502020204030204" pitchFamily="34" charset="0"/>
              </a:rPr>
              <a:t> 2.19 Wh error on unseen batteries, against 2.90 Wh for the best non-ML method.</a:t>
            </a:r>
          </a:p>
          <a:p>
            <a:pPr marL="254000" indent="-254000">
              <a:spcAft>
                <a:spcPts val="1000"/>
              </a:spcAft>
              <a:buClr>
                <a:srgbClr val="1F5FAE"/>
              </a:buClr>
              <a:buFont typeface="+mj-lt"/>
              <a:buChar char="•"/>
            </a:pPr>
            <a:r>
              <a:rPr lang="en-US" sz="1700" b="1">
                <a:solidFill>
                  <a:srgbClr val="0B0B0B"/>
                </a:solidFill>
                <a:latin typeface="Calibri" panose="020F0502020204030204" pitchFamily="34" charset="0"/>
              </a:rPr>
              <a:t>A single GRU won in development but not on test</a:t>
            </a:r>
            <a:r>
              <a:rPr lang="en-US" sz="1700">
                <a:solidFill>
                  <a:srgbClr val="0B0B0B"/>
                </a:solidFill>
                <a:latin typeface="Calibri" panose="020F0502020204030204" pitchFamily="34" charset="0"/>
              </a:rPr>
              <a:t> (2.81 Wh). The ensemble is what held up.</a:t>
            </a:r>
          </a:p>
          <a:p>
            <a:pPr marL="254000" indent="-254000">
              <a:spcAft>
                <a:spcPts val="1000"/>
              </a:spcAft>
              <a:buClr>
                <a:srgbClr val="1F5FAE"/>
              </a:buClr>
              <a:buFont typeface="+mj-lt"/>
              <a:buChar char="•"/>
            </a:pPr>
            <a:r>
              <a:rPr lang="en-US" sz="1700" b="1">
                <a:solidFill>
                  <a:srgbClr val="0B0B0B"/>
                </a:solidFill>
                <a:latin typeface="Calibri" panose="020F0502020204030204" pitchFamily="34" charset="0"/>
              </a:rPr>
              <a:t>Fast enough for on-board use:</a:t>
            </a:r>
            <a:r>
              <a:rPr lang="en-US" sz="1700">
                <a:solidFill>
                  <a:srgbClr val="0B0B0B"/>
                </a:solidFill>
                <a:latin typeface="Calibri" panose="020F0502020204030204" pitchFamily="34" charset="0"/>
              </a:rPr>
              <a:t> about 5 ms per prediction on a laptop CPU.</a:t>
            </a:r>
            <a:endParaRPr lang="en-IN" sz="1700">
              <a:solidFill>
                <a:srgbClr val="0B0B0B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76525C-B66F-5639-82F7-515E05A789CF}"/>
              </a:ext>
            </a:extLst>
          </p:cNvPr>
          <p:cNvSpPr txBox="1"/>
          <p:nvPr/>
        </p:nvSpPr>
        <p:spPr>
          <a:xfrm>
            <a:off x="548640" y="6446520"/>
            <a:ext cx="11094415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>
                <a:solidFill>
                  <a:srgbClr val="8A8982"/>
                </a:solidFill>
                <a:latin typeface="Calibri" panose="020F0502020204030204" pitchFamily="34" charset="0"/>
              </a:rPr>
              <a:t>EnduroSense   |   5</a:t>
            </a:r>
          </a:p>
        </p:txBody>
      </p:sp>
    </p:spTree>
    <p:extLst>
      <p:ext uri="{BB962C8B-B14F-4D97-AF65-F5344CB8AC3E}">
        <p14:creationId xmlns:p14="http://schemas.microsoft.com/office/powerpoint/2010/main" val="2306881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E4E729-279D-7FE8-C4EB-5DF4EDB3FD16}"/>
              </a:ext>
            </a:extLst>
          </p:cNvPr>
          <p:cNvSpPr txBox="1"/>
          <p:nvPr/>
        </p:nvSpPr>
        <p:spPr>
          <a:xfrm>
            <a:off x="548640" y="384048"/>
            <a:ext cx="11094415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1F5FAE"/>
                </a:solidFill>
                <a:latin typeface="Calibri" panose="020F0502020204030204" pitchFamily="34" charset="0"/>
              </a:rPr>
              <a:t>Model B: energy a mission needs</a:t>
            </a:r>
            <a:endParaRPr lang="en-IN" sz="3000" b="1">
              <a:solidFill>
                <a:srgbClr val="1F5FAE"/>
              </a:solidFill>
              <a:latin typeface="Calibri" panose="020F05020202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C427D89-58E4-DC1B-3E01-F8C44A960CB5}"/>
              </a:ext>
            </a:extLst>
          </p:cNvPr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 w="12700">
            <a:solidFill>
              <a:srgbClr val="D9D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DD5DD1F-EAF5-5128-440D-476A9CFDD48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417320"/>
            <a:ext cx="5120640" cy="42062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E0160C-34C2-FC8D-4614-82D54EC6410B}"/>
              </a:ext>
            </a:extLst>
          </p:cNvPr>
          <p:cNvSpPr txBox="1"/>
          <p:nvPr/>
        </p:nvSpPr>
        <p:spPr>
          <a:xfrm>
            <a:off x="6035040" y="1463040"/>
            <a:ext cx="5669280" cy="256993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54000" indent="-254000">
              <a:spcAft>
                <a:spcPts val="1000"/>
              </a:spcAft>
              <a:buClr>
                <a:srgbClr val="1F5FAE"/>
              </a:buClr>
              <a:buFont typeface="+mj-lt"/>
              <a:buChar char="•"/>
            </a:pPr>
            <a:r>
              <a:rPr lang="en-US" sz="1700" b="1">
                <a:solidFill>
                  <a:srgbClr val="0B0B0B"/>
                </a:solidFill>
                <a:latin typeface="Calibri" panose="020F0502020204030204" pitchFamily="34" charset="0"/>
              </a:rPr>
              <a:t>Built from the mission’s parts:</a:t>
            </a:r>
            <a:r>
              <a:rPr lang="en-US" sz="1700">
                <a:solidFill>
                  <a:srgbClr val="0B0B0B"/>
                </a:solidFill>
                <a:latin typeface="Calibri" panose="020F0502020204030204" pitchFamily="34" charset="0"/>
              </a:rPr>
              <a:t> climb, each cruise leg (power × time), hover, descent, ground.</a:t>
            </a:r>
          </a:p>
          <a:p>
            <a:pPr marL="254000" indent="-254000">
              <a:spcAft>
                <a:spcPts val="1000"/>
              </a:spcAft>
              <a:buClr>
                <a:srgbClr val="1F5FAE"/>
              </a:buClr>
              <a:buFont typeface="+mj-lt"/>
              <a:buChar char="•"/>
            </a:pPr>
            <a:r>
              <a:rPr lang="en-US" sz="1700" b="1">
                <a:solidFill>
                  <a:srgbClr val="0B0B0B"/>
                </a:solidFill>
                <a:latin typeface="Calibri" panose="020F0502020204030204" pitchFamily="34" charset="0"/>
              </a:rPr>
              <a:t>Physics first, ML corrects it:</a:t>
            </a:r>
            <a:r>
              <a:rPr lang="en-US" sz="1700">
                <a:solidFill>
                  <a:srgbClr val="0B0B0B"/>
                </a:solidFill>
                <a:latin typeface="Calibri" panose="020F0502020204030204" pitchFamily="34" charset="0"/>
              </a:rPr>
              <a:t> rotor physics gives the shape, XGBoost fixes what physics misses.</a:t>
            </a:r>
          </a:p>
          <a:p>
            <a:pPr marL="254000" indent="-254000">
              <a:spcAft>
                <a:spcPts val="1000"/>
              </a:spcAft>
              <a:buClr>
                <a:srgbClr val="1F5FAE"/>
              </a:buClr>
              <a:buFont typeface="+mj-lt"/>
              <a:buChar char="•"/>
            </a:pPr>
            <a:r>
              <a:rPr lang="en-US" sz="1700" b="1">
                <a:solidFill>
                  <a:srgbClr val="0B0B0B"/>
                </a:solidFill>
                <a:latin typeface="Calibri" panose="020F0502020204030204" pitchFamily="34" charset="0"/>
              </a:rPr>
              <a:t>3.1% error on unseen flights:</a:t>
            </a:r>
            <a:r>
              <a:rPr lang="en-US" sz="1700">
                <a:solidFill>
                  <a:srgbClr val="0B0B0B"/>
                </a:solidFill>
                <a:latin typeface="Calibri" panose="020F0502020204030204" pitchFamily="34" charset="0"/>
              </a:rPr>
              <a:t> 2.6% on the trained route, 5.7% on routes never seen.</a:t>
            </a:r>
          </a:p>
          <a:p>
            <a:pPr marL="254000" indent="-254000">
              <a:spcAft>
                <a:spcPts val="1000"/>
              </a:spcAft>
              <a:buClr>
                <a:srgbClr val="1F5FAE"/>
              </a:buClr>
              <a:buFont typeface="+mj-lt"/>
              <a:buChar char="•"/>
            </a:pPr>
            <a:r>
              <a:rPr lang="en-US" sz="1700" b="1">
                <a:solidFill>
                  <a:srgbClr val="0B0B0B"/>
                </a:solidFill>
                <a:latin typeface="Calibri" panose="020F0502020204030204" pitchFamily="34" charset="0"/>
              </a:rPr>
              <a:t>On the longest unseen route it over-predicts</a:t>
            </a:r>
            <a:r>
              <a:rPr lang="en-US" sz="1700">
                <a:solidFill>
                  <a:srgbClr val="0B0B0B"/>
                </a:solidFill>
                <a:latin typeface="Calibri" panose="020F0502020204030204" pitchFamily="34" charset="0"/>
              </a:rPr>
              <a:t> (the safe direction) and misses our 5% target.</a:t>
            </a:r>
            <a:endParaRPr lang="en-IN" sz="1700">
              <a:solidFill>
                <a:srgbClr val="0B0B0B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3B7CC8-6CE6-D4C9-0500-8FE2A65F59A7}"/>
              </a:ext>
            </a:extLst>
          </p:cNvPr>
          <p:cNvSpPr txBox="1"/>
          <p:nvPr/>
        </p:nvSpPr>
        <p:spPr>
          <a:xfrm>
            <a:off x="548640" y="6446520"/>
            <a:ext cx="11094415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>
                <a:solidFill>
                  <a:srgbClr val="8A8982"/>
                </a:solidFill>
                <a:latin typeface="Calibri" panose="020F0502020204030204" pitchFamily="34" charset="0"/>
              </a:rPr>
              <a:t>EnduroSense   |   6</a:t>
            </a:r>
          </a:p>
        </p:txBody>
      </p:sp>
    </p:spTree>
    <p:extLst>
      <p:ext uri="{BB962C8B-B14F-4D97-AF65-F5344CB8AC3E}">
        <p14:creationId xmlns:p14="http://schemas.microsoft.com/office/powerpoint/2010/main" val="2881870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35A7AD-3A98-8AC3-3695-9828D6135A63}"/>
              </a:ext>
            </a:extLst>
          </p:cNvPr>
          <p:cNvSpPr txBox="1"/>
          <p:nvPr/>
        </p:nvSpPr>
        <p:spPr>
          <a:xfrm>
            <a:off x="548640" y="384048"/>
            <a:ext cx="11094415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1F5FAE"/>
                </a:solidFill>
                <a:latin typeface="Calibri" panose="020F0502020204030204" pitchFamily="34" charset="0"/>
              </a:rPr>
              <a:t>Honest ranges: how sure is each prediction?</a:t>
            </a:r>
            <a:endParaRPr lang="en-IN" sz="3000" b="1">
              <a:solidFill>
                <a:srgbClr val="1F5FAE"/>
              </a:solidFill>
              <a:latin typeface="Calibri" panose="020F05020202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274F77-9FFF-75D1-BE43-81A2470C5635}"/>
              </a:ext>
            </a:extLst>
          </p:cNvPr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 w="12700">
            <a:solidFill>
              <a:srgbClr val="D9D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C22D285-FA43-A7FE-CDC9-43256B6887F6}"/>
              </a:ext>
            </a:extLst>
          </p:cNvPr>
          <p:cNvSpPr txBox="1"/>
          <p:nvPr/>
        </p:nvSpPr>
        <p:spPr>
          <a:xfrm>
            <a:off x="548640" y="1463040"/>
            <a:ext cx="5486400" cy="126188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900">
                <a:solidFill>
                  <a:srgbClr val="0B0B0B"/>
                </a:solidFill>
                <a:latin typeface="Calibri" panose="020F0502020204030204" pitchFamily="34" charset="0"/>
              </a:rPr>
              <a:t>A “90% range” should contain the truth about 90% of the time on data the model has not seen. Both ranges are set from the models’ errors on held-out batteries and flights, with every battery counted equally.</a:t>
            </a:r>
            <a:endParaRPr lang="en-IN" sz="1900">
              <a:solidFill>
                <a:srgbClr val="0B0B0B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AB3201-9662-F4DF-583C-472776EC00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90799"/>
              </p:ext>
            </p:extLst>
          </p:nvPr>
        </p:nvGraphicFramePr>
        <p:xfrm>
          <a:off x="548640" y="365760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59508857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377097286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1661763404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algn="l"/>
                      <a:r>
                        <a:rPr lang="en-IN" sz="1700" b="1">
                          <a:solidFill>
                            <a:srgbClr val="0B0B0B"/>
                          </a:solidFill>
                          <a:latin typeface="Calibri" panose="020F0502020204030204" pitchFamily="34" charset="0"/>
                        </a:rPr>
                        <a:t>90% range covers</a:t>
                      </a:r>
                    </a:p>
                  </a:txBody>
                  <a:tcPr>
                    <a:solidFill>
                      <a:srgbClr val="DCE8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b="1">
                          <a:solidFill>
                            <a:srgbClr val="0B0B0B"/>
                          </a:solidFill>
                          <a:latin typeface="Calibri" panose="020F0502020204030204" pitchFamily="34" charset="0"/>
                        </a:rPr>
                        <a:t>Development</a:t>
                      </a:r>
                    </a:p>
                  </a:txBody>
                  <a:tcPr>
                    <a:solidFill>
                      <a:srgbClr val="DCE8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b="1">
                          <a:solidFill>
                            <a:srgbClr val="0B0B0B"/>
                          </a:solidFill>
                          <a:latin typeface="Calibri" panose="020F0502020204030204" pitchFamily="34" charset="0"/>
                        </a:rPr>
                        <a:t>Test</a:t>
                      </a:r>
                    </a:p>
                  </a:txBody>
                  <a:tcPr>
                    <a:solidFill>
                      <a:srgbClr val="DC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512538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lang="en-IN" sz="1700" b="0">
                          <a:solidFill>
                            <a:srgbClr val="0B0B0B"/>
                          </a:solidFill>
                          <a:latin typeface="Calibri" panose="020F0502020204030204" pitchFamily="34" charset="0"/>
                        </a:rPr>
                        <a:t>Energy available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b="0">
                          <a:solidFill>
                            <a:srgbClr val="0B0B0B"/>
                          </a:solidFill>
                          <a:latin typeface="Calibri" panose="020F0502020204030204" pitchFamily="34" charset="0"/>
                        </a:rPr>
                        <a:t>89.5%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b="0">
                          <a:solidFill>
                            <a:srgbClr val="0B0B0B"/>
                          </a:solidFill>
                          <a:latin typeface="Calibri" panose="020F0502020204030204" pitchFamily="34" charset="0"/>
                        </a:rPr>
                        <a:t>93.8%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57179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lang="en-IN" sz="1700" b="0">
                          <a:solidFill>
                            <a:srgbClr val="0B0B0B"/>
                          </a:solidFill>
                          <a:latin typeface="Calibri" panose="020F0502020204030204" pitchFamily="34" charset="0"/>
                        </a:rPr>
                        <a:t>Energy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b="0">
                          <a:solidFill>
                            <a:srgbClr val="0B0B0B"/>
                          </a:solidFill>
                          <a:latin typeface="Calibri" panose="020F0502020204030204" pitchFamily="34" charset="0"/>
                        </a:rPr>
                        <a:t>91.5%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b="0">
                          <a:solidFill>
                            <a:srgbClr val="0B0B0B"/>
                          </a:solidFill>
                          <a:latin typeface="Calibri" panose="020F0502020204030204" pitchFamily="34" charset="0"/>
                        </a:rPr>
                        <a:t>80.0%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160709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7AB4201F-836C-A982-E0D8-CCFC0E39633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5120" y="1371600"/>
            <a:ext cx="4846320" cy="41283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6E584C-CD00-F9CF-1948-0ABAFE0C8C73}"/>
              </a:ext>
            </a:extLst>
          </p:cNvPr>
          <p:cNvSpPr txBox="1"/>
          <p:nvPr/>
        </p:nvSpPr>
        <p:spPr>
          <a:xfrm>
            <a:off x="6675120" y="5623560"/>
            <a:ext cx="484632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400">
                <a:solidFill>
                  <a:srgbClr val="52514E"/>
                </a:solidFill>
                <a:latin typeface="Calibri" panose="020F0502020204030204" pitchFamily="34" charset="0"/>
              </a:rPr>
              <a:t>P(success) against what happened, on test. Missions rated 95–99% succeeded 94%.</a:t>
            </a:r>
            <a:endParaRPr lang="en-IN" sz="1400">
              <a:solidFill>
                <a:srgbClr val="52514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FA5F75-50A6-831C-12DF-6DCD872E18B3}"/>
              </a:ext>
            </a:extLst>
          </p:cNvPr>
          <p:cNvSpPr txBox="1"/>
          <p:nvPr/>
        </p:nvSpPr>
        <p:spPr>
          <a:xfrm>
            <a:off x="548640" y="6446520"/>
            <a:ext cx="11094415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>
                <a:solidFill>
                  <a:srgbClr val="8A8982"/>
                </a:solidFill>
                <a:latin typeface="Calibri" panose="020F0502020204030204" pitchFamily="34" charset="0"/>
              </a:rPr>
              <a:t>EnduroSense   |   7</a:t>
            </a:r>
          </a:p>
        </p:txBody>
      </p:sp>
    </p:spTree>
    <p:extLst>
      <p:ext uri="{BB962C8B-B14F-4D97-AF65-F5344CB8AC3E}">
        <p14:creationId xmlns:p14="http://schemas.microsoft.com/office/powerpoint/2010/main" val="989654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98920C-84E4-6486-8462-48526E5F2AFE}"/>
              </a:ext>
            </a:extLst>
          </p:cNvPr>
          <p:cNvSpPr txBox="1"/>
          <p:nvPr/>
        </p:nvSpPr>
        <p:spPr>
          <a:xfrm>
            <a:off x="548640" y="384048"/>
            <a:ext cx="11094415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1F5FAE"/>
                </a:solidFill>
                <a:latin typeface="Calibri" panose="020F0502020204030204" pitchFamily="34" charset="0"/>
              </a:rPr>
              <a:t>Three missions, one battery: the brief’s rule approves all three</a:t>
            </a:r>
            <a:endParaRPr lang="en-IN" sz="3000" b="1">
              <a:solidFill>
                <a:srgbClr val="1F5FAE"/>
              </a:solidFill>
              <a:latin typeface="Calibri" panose="020F05020202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2EC77B7-CCAD-05E3-7C79-CF560717669A}"/>
              </a:ext>
            </a:extLst>
          </p:cNvPr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 w="12700">
            <a:solidFill>
              <a:srgbClr val="D9D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8337626-6703-A7CC-9B6C-298965E93A64}"/>
              </a:ext>
            </a:extLst>
          </p:cNvPr>
          <p:cNvSpPr txBox="1"/>
          <p:nvPr/>
        </p:nvSpPr>
        <p:spPr>
          <a:xfrm>
            <a:off x="548640" y="1325880"/>
            <a:ext cx="11094415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700">
                <a:solidFill>
                  <a:srgbClr val="52514E"/>
                </a:solidFill>
                <a:latin typeface="Calibri" panose="020F0502020204030204" pitchFamily="34" charset="0"/>
              </a:rPr>
              <a:t>An unseen battery before take-off (chain 86). The model says 38 Wh above reserve; 33 Wh were really there. Diamonds show what was measured.</a:t>
            </a:r>
            <a:endParaRPr lang="en-IN" sz="1700">
              <a:solidFill>
                <a:srgbClr val="52514E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0AE5DF-51D7-7B4F-23FB-6296D4973AD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2103120"/>
            <a:ext cx="11094415" cy="2773604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11C95DA-CE64-F896-DD24-B0255460A75E}"/>
              </a:ext>
            </a:extLst>
          </p:cNvPr>
          <p:cNvSpPr/>
          <p:nvPr/>
        </p:nvSpPr>
        <p:spPr>
          <a:xfrm>
            <a:off x="850392" y="5074920"/>
            <a:ext cx="3108960" cy="548640"/>
          </a:xfrm>
          <a:prstGeom prst="roundRect">
            <a:avLst>
              <a:gd name="adj" fmla="val 12000"/>
            </a:avLst>
          </a:prstGeom>
          <a:solidFill>
            <a:srgbClr val="E8F5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0C7A0C"/>
                </a:solidFill>
                <a:latin typeface="Calibri" panose="020F0502020204030204" pitchFamily="34" charset="0"/>
              </a:rPr>
              <a:t>GO: EnduroSense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573BF83-FD09-8E08-C7B9-C03CC56CEAD3}"/>
              </a:ext>
            </a:extLst>
          </p:cNvPr>
          <p:cNvSpPr/>
          <p:nvPr/>
        </p:nvSpPr>
        <p:spPr>
          <a:xfrm>
            <a:off x="4617720" y="5074920"/>
            <a:ext cx="3108960" cy="548640"/>
          </a:xfrm>
          <a:prstGeom prst="roundRect">
            <a:avLst>
              <a:gd name="adj" fmla="val 12000"/>
            </a:avLst>
          </a:prstGeom>
          <a:solidFill>
            <a:srgbClr val="FBE9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C0392B"/>
                </a:solidFill>
                <a:latin typeface="Calibri" panose="020F0502020204030204" pitchFamily="34" charset="0"/>
              </a:rPr>
              <a:t>NO-GO: EnduroSense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7C56031-F713-911A-55A5-9153981266C8}"/>
              </a:ext>
            </a:extLst>
          </p:cNvPr>
          <p:cNvSpPr/>
          <p:nvPr/>
        </p:nvSpPr>
        <p:spPr>
          <a:xfrm>
            <a:off x="8385048" y="5074920"/>
            <a:ext cx="3108960" cy="548640"/>
          </a:xfrm>
          <a:prstGeom prst="roundRect">
            <a:avLst>
              <a:gd name="adj" fmla="val 12000"/>
            </a:avLst>
          </a:prstGeom>
          <a:solidFill>
            <a:srgbClr val="E8F5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0C7A0C"/>
                </a:solidFill>
                <a:latin typeface="Calibri" panose="020F0502020204030204" pitchFamily="34" charset="0"/>
              </a:rPr>
              <a:t>GO: EnduroSense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E9C040-4956-270D-9DAE-C49173B8420A}"/>
              </a:ext>
            </a:extLst>
          </p:cNvPr>
          <p:cNvSpPr txBox="1"/>
          <p:nvPr/>
        </p:nvSpPr>
        <p:spPr>
          <a:xfrm>
            <a:off x="850392" y="5669280"/>
            <a:ext cx="310896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spcAft>
                <a:spcPts val="800"/>
              </a:spcAft>
            </a:pPr>
            <a:r>
              <a:rPr lang="en-IN" sz="1500">
                <a:solidFill>
                  <a:srgbClr val="52514E"/>
                </a:solidFill>
                <a:latin typeface="Calibri" panose="020F0502020204030204" pitchFamily="34" charset="0"/>
              </a:rPr>
              <a:t>needed 14 Wh: fine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C50338-14A7-FE89-59D7-9988ECE528E6}"/>
              </a:ext>
            </a:extLst>
          </p:cNvPr>
          <p:cNvSpPr txBox="1"/>
          <p:nvPr/>
        </p:nvSpPr>
        <p:spPr>
          <a:xfrm>
            <a:off x="4617720" y="5669280"/>
            <a:ext cx="310896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spcAft>
                <a:spcPts val="800"/>
              </a:spcAft>
            </a:pPr>
            <a:r>
              <a:rPr lang="en-US" sz="1500">
                <a:solidFill>
                  <a:srgbClr val="52514E"/>
                </a:solidFill>
                <a:latin typeface="Calibri" panose="020F0502020204030204" pitchFamily="34" charset="0"/>
              </a:rPr>
              <a:t>needed 38 Wh: 5 Wh into the reserve</a:t>
            </a:r>
            <a:endParaRPr lang="en-IN" sz="1500">
              <a:solidFill>
                <a:srgbClr val="52514E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F7989B-5AFF-ED01-77BC-B5BF37CD8461}"/>
              </a:ext>
            </a:extLst>
          </p:cNvPr>
          <p:cNvSpPr txBox="1"/>
          <p:nvPr/>
        </p:nvSpPr>
        <p:spPr>
          <a:xfrm>
            <a:off x="8385048" y="5669280"/>
            <a:ext cx="310896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spcAft>
                <a:spcPts val="800"/>
              </a:spcAft>
            </a:pPr>
            <a:r>
              <a:rPr lang="en-IN" sz="1500">
                <a:solidFill>
                  <a:srgbClr val="52514E"/>
                </a:solidFill>
                <a:latin typeface="Calibri" panose="020F0502020204030204" pitchFamily="34" charset="0"/>
              </a:rPr>
              <a:t>needed 28 Wh: fine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18B9ED-9559-A714-D8B8-F378310A55D4}"/>
              </a:ext>
            </a:extLst>
          </p:cNvPr>
          <p:cNvSpPr txBox="1"/>
          <p:nvPr/>
        </p:nvSpPr>
        <p:spPr>
          <a:xfrm>
            <a:off x="548640" y="6446520"/>
            <a:ext cx="11094415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>
                <a:solidFill>
                  <a:srgbClr val="8A8982"/>
                </a:solidFill>
                <a:latin typeface="Calibri" panose="020F0502020204030204" pitchFamily="34" charset="0"/>
              </a:rPr>
              <a:t>EnduroSense   |   8</a:t>
            </a:r>
          </a:p>
        </p:txBody>
      </p:sp>
    </p:spTree>
    <p:extLst>
      <p:ext uri="{BB962C8B-B14F-4D97-AF65-F5344CB8AC3E}">
        <p14:creationId xmlns:p14="http://schemas.microsoft.com/office/powerpoint/2010/main" val="3906866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78BF03-18CE-0E97-664F-21C955990FD3}"/>
              </a:ext>
            </a:extLst>
          </p:cNvPr>
          <p:cNvSpPr txBox="1"/>
          <p:nvPr/>
        </p:nvSpPr>
        <p:spPr>
          <a:xfrm>
            <a:off x="548640" y="384048"/>
            <a:ext cx="11094415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1F5FAE"/>
                </a:solidFill>
                <a:latin typeface="Calibri" panose="020F0502020204030204" pitchFamily="34" charset="0"/>
              </a:rPr>
              <a:t>Result: unsafe approvals fall from 12% to under 1%</a:t>
            </a:r>
            <a:endParaRPr lang="en-IN" sz="3000" b="1">
              <a:solidFill>
                <a:srgbClr val="1F5FAE"/>
              </a:solidFill>
              <a:latin typeface="Calibri" panose="020F05020202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E159F50-25F9-0FCD-D4F8-C43FD6A7AE7E}"/>
              </a:ext>
            </a:extLst>
          </p:cNvPr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 w="12700">
            <a:solidFill>
              <a:srgbClr val="D9D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AF6C396-4A87-9F19-3483-7BD89B186A9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371600"/>
            <a:ext cx="7315200" cy="30621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56835F-16CF-C23F-238B-BF866EFD0FB4}"/>
              </a:ext>
            </a:extLst>
          </p:cNvPr>
          <p:cNvSpPr txBox="1"/>
          <p:nvPr/>
        </p:nvSpPr>
        <p:spPr>
          <a:xfrm>
            <a:off x="8229600" y="1371600"/>
            <a:ext cx="347472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4400" b="1">
                <a:solidFill>
                  <a:srgbClr val="1F5FAE"/>
                </a:solidFill>
                <a:latin typeface="Calibri" panose="020F0502020204030204" pitchFamily="34" charset="0"/>
              </a:rPr>
              <a:t>0.61%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CFBD3E-3866-EDA4-B662-8B8ADCA3561D}"/>
              </a:ext>
            </a:extLst>
          </p:cNvPr>
          <p:cNvSpPr txBox="1"/>
          <p:nvPr/>
        </p:nvSpPr>
        <p:spPr>
          <a:xfrm>
            <a:off x="8229600" y="2240280"/>
            <a:ext cx="3474720" cy="93358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600">
                <a:solidFill>
                  <a:srgbClr val="52514E"/>
                </a:solidFill>
                <a:latin typeface="Calibri" panose="020F0502020204030204" pitchFamily="34" charset="0"/>
              </a:rPr>
              <a:t>of failing missions approved by EnduroSense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52514E"/>
                </a:solidFill>
                <a:latin typeface="Calibri" panose="020F0502020204030204" pitchFamily="34" charset="0"/>
              </a:rPr>
              <a:t>(test set, all battery states)</a:t>
            </a:r>
            <a:endParaRPr lang="en-IN" sz="1600">
              <a:solidFill>
                <a:srgbClr val="52514E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9AB2B5-2676-6E24-8DA3-D941C21A853D}"/>
              </a:ext>
            </a:extLst>
          </p:cNvPr>
          <p:cNvSpPr txBox="1"/>
          <p:nvPr/>
        </p:nvSpPr>
        <p:spPr>
          <a:xfrm>
            <a:off x="8229600" y="3291840"/>
            <a:ext cx="347472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4400" b="1">
                <a:solidFill>
                  <a:srgbClr val="0C7A0C"/>
                </a:solidFill>
                <a:latin typeface="Calibri" panose="020F0502020204030204" pitchFamily="34" charset="0"/>
              </a:rPr>
              <a:t>0.00%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9435CD-1B1C-7BC1-53A3-8A6B7E654A24}"/>
              </a:ext>
            </a:extLst>
          </p:cNvPr>
          <p:cNvSpPr txBox="1"/>
          <p:nvPr/>
        </p:nvSpPr>
        <p:spPr>
          <a:xfrm>
            <a:off x="8229600" y="4160520"/>
            <a:ext cx="347472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600">
                <a:solidFill>
                  <a:srgbClr val="52514E"/>
                </a:solidFill>
                <a:latin typeface="Calibri" panose="020F0502020204030204" pitchFamily="34" charset="0"/>
              </a:rPr>
              <a:t>at take-off decisions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5A4571-81A0-4EB5-0187-77445FF5C93E}"/>
              </a:ext>
            </a:extLst>
          </p:cNvPr>
          <p:cNvSpPr txBox="1"/>
          <p:nvPr/>
        </p:nvSpPr>
        <p:spPr>
          <a:xfrm>
            <a:off x="548640" y="4846320"/>
            <a:ext cx="11094415" cy="71814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54000" indent="-254000">
              <a:spcAft>
                <a:spcPts val="800"/>
              </a:spcAft>
              <a:buClr>
                <a:srgbClr val="1F5FAE"/>
              </a:buClr>
              <a:buFont typeface="+mj-lt"/>
              <a:buChar char="•"/>
            </a:pPr>
            <a:r>
              <a:rPr lang="en-US" sz="1700" b="1">
                <a:solidFill>
                  <a:srgbClr val="0B0B0B"/>
                </a:solidFill>
                <a:latin typeface="Calibri" panose="020F0502020204030204" pitchFamily="34" charset="0"/>
              </a:rPr>
              <a:t>The price is caution:</a:t>
            </a:r>
            <a:r>
              <a:rPr lang="en-US" sz="1700">
                <a:solidFill>
                  <a:srgbClr val="0B0B0B"/>
                </a:solidFill>
                <a:latin typeface="Calibri" panose="020F0502020204030204" pitchFamily="34" charset="0"/>
              </a:rPr>
              <a:t> it refuses 24% of missions that would have succeeded, mostly those within a few Wh of the limit.</a:t>
            </a:r>
          </a:p>
          <a:p>
            <a:pPr marL="254000" indent="-254000">
              <a:spcAft>
                <a:spcPts val="800"/>
              </a:spcAft>
              <a:buClr>
                <a:srgbClr val="1F5FAE"/>
              </a:buClr>
              <a:buFont typeface="+mj-lt"/>
              <a:buChar char="•"/>
            </a:pPr>
            <a:r>
              <a:rPr lang="en-US" sz="1700" b="1">
                <a:solidFill>
                  <a:srgbClr val="0B0B0B"/>
                </a:solidFill>
                <a:latin typeface="Calibri" panose="020F0502020204030204" pitchFamily="34" charset="0"/>
              </a:rPr>
              <a:t>Minutes-left cannot be rescued with a safety margin:</a:t>
            </a:r>
            <a:r>
              <a:rPr lang="en-US" sz="1700">
                <a:solidFill>
                  <a:srgbClr val="0B0B0B"/>
                </a:solidFill>
                <a:latin typeface="Calibri" panose="020F0502020204030204" pitchFamily="34" charset="0"/>
              </a:rPr>
              <a:t> to be as safe it must refuse 9 in 10 feasible missions.</a:t>
            </a:r>
            <a:endParaRPr lang="en-IN" sz="1700">
              <a:solidFill>
                <a:srgbClr val="0B0B0B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B69DCD-2393-A584-B355-FD393803E951}"/>
              </a:ext>
            </a:extLst>
          </p:cNvPr>
          <p:cNvSpPr txBox="1"/>
          <p:nvPr/>
        </p:nvSpPr>
        <p:spPr>
          <a:xfrm>
            <a:off x="548640" y="6446520"/>
            <a:ext cx="11094415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>
                <a:solidFill>
                  <a:srgbClr val="8A8982"/>
                </a:solidFill>
                <a:latin typeface="Calibri" panose="020F0502020204030204" pitchFamily="34" charset="0"/>
              </a:rPr>
              <a:t>EnduroSense   |   9</a:t>
            </a:r>
          </a:p>
        </p:txBody>
      </p:sp>
    </p:spTree>
    <p:extLst>
      <p:ext uri="{BB962C8B-B14F-4D97-AF65-F5344CB8AC3E}">
        <p14:creationId xmlns:p14="http://schemas.microsoft.com/office/powerpoint/2010/main" val="199301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64D05E-0581-982E-400F-3551BF5F9B88}"/>
              </a:ext>
            </a:extLst>
          </p:cNvPr>
          <p:cNvSpPr txBox="1"/>
          <p:nvPr/>
        </p:nvSpPr>
        <p:spPr>
          <a:xfrm>
            <a:off x="548640" y="384048"/>
            <a:ext cx="11094415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1F5FAE"/>
                </a:solidFill>
                <a:latin typeface="Calibri" panose="020F0502020204030204" pitchFamily="34" charset="0"/>
              </a:rPr>
              <a:t>In a simulated fleet on unseen batteries</a:t>
            </a:r>
            <a:endParaRPr lang="en-IN" sz="3000" b="1">
              <a:solidFill>
                <a:srgbClr val="1F5FAE"/>
              </a:solidFill>
              <a:latin typeface="Calibri" panose="020F05020202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A58E70A-2F4D-424F-D499-143DD8243E8E}"/>
              </a:ext>
            </a:extLst>
          </p:cNvPr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 w="12700">
            <a:solidFill>
              <a:srgbClr val="D9D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406A3FB4-0995-04E7-FFB5-A72BA7C9C5E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371600"/>
            <a:ext cx="7132320" cy="36490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544256-291E-98E4-5949-FA2F07A9EA97}"/>
              </a:ext>
            </a:extLst>
          </p:cNvPr>
          <p:cNvSpPr txBox="1"/>
          <p:nvPr/>
        </p:nvSpPr>
        <p:spPr>
          <a:xfrm>
            <a:off x="8138160" y="1463040"/>
            <a:ext cx="356616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4400" b="1">
                <a:solidFill>
                  <a:srgbClr val="1F5FAE"/>
                </a:solidFill>
                <a:latin typeface="Calibri" panose="020F0502020204030204" pitchFamily="34" charset="0"/>
              </a:rPr>
              <a:t>16×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5A8F78-6DA9-1017-F0F2-92E3C79FD600}"/>
              </a:ext>
            </a:extLst>
          </p:cNvPr>
          <p:cNvSpPr txBox="1"/>
          <p:nvPr/>
        </p:nvSpPr>
        <p:spPr>
          <a:xfrm>
            <a:off x="8138160" y="2331720"/>
            <a:ext cx="356616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600">
                <a:solidFill>
                  <a:srgbClr val="52514E"/>
                </a:solidFill>
                <a:latin typeface="Calibri" panose="020F0502020204030204" pitchFamily="34" charset="0"/>
              </a:rPr>
              <a:t>fewer unsafe missions than the brief’s rule</a:t>
            </a:r>
            <a:endParaRPr lang="en-IN" sz="1600">
              <a:solidFill>
                <a:srgbClr val="52514E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42D3ED-D3FC-0815-4183-A6B2B1C68401}"/>
              </a:ext>
            </a:extLst>
          </p:cNvPr>
          <p:cNvSpPr txBox="1"/>
          <p:nvPr/>
        </p:nvSpPr>
        <p:spPr>
          <a:xfrm>
            <a:off x="8138160" y="3383280"/>
            <a:ext cx="3566160" cy="13952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1700">
                <a:solidFill>
                  <a:srgbClr val="52514E"/>
                </a:solidFill>
                <a:latin typeface="Calibri" panose="020F0502020204030204" pitchFamily="34" charset="0"/>
              </a:rPr>
              <a:t>4 drones, 40 tasks a day, 200 days.</a:t>
            </a:r>
          </a:p>
          <a:p>
            <a:pPr>
              <a:spcAft>
                <a:spcPts val="1000"/>
              </a:spcAft>
            </a:pPr>
            <a:r>
              <a:rPr lang="en-US" sz="1700">
                <a:solidFill>
                  <a:srgbClr val="52514E"/>
                </a:solidFill>
                <a:latin typeface="Calibri" panose="020F0502020204030204" pitchFamily="34" charset="0"/>
              </a:rPr>
              <a:t>8 real unseen batteries; tasks are real recorded flights.</a:t>
            </a:r>
          </a:p>
          <a:p>
            <a:pPr>
              <a:spcAft>
                <a:spcPts val="1000"/>
              </a:spcAft>
            </a:pPr>
            <a:r>
              <a:rPr lang="en-US" sz="1700">
                <a:solidFill>
                  <a:srgbClr val="52514E"/>
                </a:solidFill>
                <a:latin typeface="Calibri" panose="020F0502020204030204" pitchFamily="34" charset="0"/>
              </a:rPr>
              <a:t>Cost: 10% more battery swaps.</a:t>
            </a:r>
            <a:endParaRPr lang="en-IN" sz="1700">
              <a:solidFill>
                <a:srgbClr val="52514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7C55C3-F8EA-61FA-9F66-ED9B82BDFCB9}"/>
              </a:ext>
            </a:extLst>
          </p:cNvPr>
          <p:cNvSpPr txBox="1"/>
          <p:nvPr/>
        </p:nvSpPr>
        <p:spPr>
          <a:xfrm>
            <a:off x="548640" y="6446520"/>
            <a:ext cx="11094415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>
                <a:solidFill>
                  <a:srgbClr val="8A8982"/>
                </a:solidFill>
                <a:latin typeface="Calibri" panose="020F0502020204030204" pitchFamily="34" charset="0"/>
              </a:rPr>
              <a:t>EnduroSense   |   10</a:t>
            </a:r>
          </a:p>
        </p:txBody>
      </p:sp>
    </p:spTree>
    <p:extLst>
      <p:ext uri="{BB962C8B-B14F-4D97-AF65-F5344CB8AC3E}">
        <p14:creationId xmlns:p14="http://schemas.microsoft.com/office/powerpoint/2010/main" val="2057756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3342A2-3C2D-51E6-C7A1-C9648B26A43B}"/>
              </a:ext>
            </a:extLst>
          </p:cNvPr>
          <p:cNvSpPr txBox="1"/>
          <p:nvPr/>
        </p:nvSpPr>
        <p:spPr>
          <a:xfrm>
            <a:off x="548640" y="384048"/>
            <a:ext cx="11094415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1F5FAE"/>
                </a:solidFill>
                <a:latin typeface="Calibri" panose="020F0502020204030204" pitchFamily="34" charset="0"/>
              </a:rPr>
              <a:t>What did not hold up</a:t>
            </a:r>
            <a:endParaRPr lang="en-IN" sz="3000" b="1">
              <a:solidFill>
                <a:srgbClr val="1F5FAE"/>
              </a:solidFill>
              <a:latin typeface="Calibri" panose="020F05020202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4465AC7-916E-2795-DFC1-14220866D751}"/>
              </a:ext>
            </a:extLst>
          </p:cNvPr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 w="12700">
            <a:solidFill>
              <a:srgbClr val="D9D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D373425-079F-8351-702B-664B81801074}"/>
              </a:ext>
            </a:extLst>
          </p:cNvPr>
          <p:cNvSpPr txBox="1"/>
          <p:nvPr/>
        </p:nvSpPr>
        <p:spPr>
          <a:xfrm>
            <a:off x="548640" y="1463040"/>
            <a:ext cx="11094415" cy="238526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54000" indent="-254000">
              <a:spcAft>
                <a:spcPts val="1400"/>
              </a:spcAft>
              <a:buClr>
                <a:srgbClr val="1F5FAE"/>
              </a:buClr>
              <a:buFont typeface="+mj-lt"/>
              <a:buChar char="•"/>
            </a:pPr>
            <a:r>
              <a:rPr lang="en-US" sz="1900" b="1">
                <a:solidFill>
                  <a:srgbClr val="0B0B0B"/>
                </a:solidFill>
                <a:latin typeface="Calibri" panose="020F0502020204030204" pitchFamily="34" charset="0"/>
              </a:rPr>
              <a:t>Mission model on unseen, longer routes:</a:t>
            </a:r>
            <a:r>
              <a:rPr lang="en-US" sz="1900">
                <a:solidFill>
                  <a:srgbClr val="0B0B0B"/>
                </a:solidFill>
                <a:latin typeface="Calibri" panose="020F0502020204030204" pitchFamily="34" charset="0"/>
              </a:rPr>
              <a:t> 5.7% error against a 5% target (over-predicted, the safe direction).</a:t>
            </a:r>
          </a:p>
          <a:p>
            <a:pPr marL="254000" indent="-254000">
              <a:spcAft>
                <a:spcPts val="1400"/>
              </a:spcAft>
              <a:buClr>
                <a:srgbClr val="1F5FAE"/>
              </a:buClr>
              <a:buFont typeface="+mj-lt"/>
              <a:buChar char="•"/>
            </a:pPr>
            <a:r>
              <a:rPr lang="en-US" sz="1900" b="1">
                <a:solidFill>
                  <a:srgbClr val="0B0B0B"/>
                </a:solidFill>
                <a:latin typeface="Calibri" panose="020F0502020204030204" pitchFamily="34" charset="0"/>
              </a:rPr>
              <a:t>Mission model’s ranges:</a:t>
            </a:r>
            <a:r>
              <a:rPr lang="en-US" sz="1900">
                <a:solidFill>
                  <a:srgbClr val="0B0B0B"/>
                </a:solidFill>
                <a:latin typeface="Calibri" panose="020F0502020204030204" pitchFamily="34" charset="0"/>
              </a:rPr>
              <a:t> 80% coverage on test against a 90% target. Too narrow on new data.</a:t>
            </a:r>
          </a:p>
          <a:p>
            <a:pPr marL="254000" indent="-254000">
              <a:spcAft>
                <a:spcPts val="1400"/>
              </a:spcAft>
              <a:buClr>
                <a:srgbClr val="1F5FAE"/>
              </a:buClr>
              <a:buFont typeface="+mj-lt"/>
              <a:buChar char="•"/>
            </a:pPr>
            <a:r>
              <a:rPr lang="en-US" sz="1900" b="1">
                <a:solidFill>
                  <a:srgbClr val="0B0B0B"/>
                </a:solidFill>
                <a:latin typeface="Calibri" panose="020F0502020204030204" pitchFamily="34" charset="0"/>
              </a:rPr>
              <a:t>The probability against a well-tuned fixed margin:</a:t>
            </a:r>
            <a:r>
              <a:rPr lang="en-US" sz="1900">
                <a:solidFill>
                  <a:srgbClr val="0B0B0B"/>
                </a:solidFill>
                <a:latin typeface="Calibri" panose="020F0502020204030204" pitchFamily="34" charset="0"/>
              </a:rPr>
              <a:t> no measurable difference over all cases. The probability refused fewer feasible missions at take-off and needs no tuning.</a:t>
            </a:r>
          </a:p>
          <a:p>
            <a:pPr marL="254000" indent="-254000">
              <a:spcAft>
                <a:spcPts val="1400"/>
              </a:spcAft>
              <a:buClr>
                <a:srgbClr val="1F5FAE"/>
              </a:buClr>
              <a:buFont typeface="+mj-lt"/>
              <a:buChar char="•"/>
            </a:pPr>
            <a:r>
              <a:rPr lang="en-US" sz="1900" b="1">
                <a:solidFill>
                  <a:srgbClr val="0B0B0B"/>
                </a:solidFill>
                <a:latin typeface="Calibri" panose="020F0502020204030204" pitchFamily="34" charset="0"/>
              </a:rPr>
              <a:t>Risk is per battery:</a:t>
            </a:r>
            <a:r>
              <a:rPr lang="en-US" sz="1900">
                <a:solidFill>
                  <a:srgbClr val="0B0B0B"/>
                </a:solidFill>
                <a:latin typeface="Calibri" panose="020F0502020204030204" pitchFamily="34" charset="0"/>
              </a:rPr>
              <a:t> all of EnduroSense’s unsafe approvals came from two batteries whose capacity the model over-estimated.</a:t>
            </a:r>
            <a:endParaRPr lang="en-IN" sz="1900">
              <a:solidFill>
                <a:srgbClr val="0B0B0B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50A6FC-A30F-BF7F-F89D-FBC0BDB2FB74}"/>
              </a:ext>
            </a:extLst>
          </p:cNvPr>
          <p:cNvSpPr/>
          <p:nvPr/>
        </p:nvSpPr>
        <p:spPr>
          <a:xfrm>
            <a:off x="548640" y="5486400"/>
            <a:ext cx="11094415" cy="822960"/>
          </a:xfrm>
          <a:prstGeom prst="roundRect">
            <a:avLst>
              <a:gd name="adj" fmla="val 12000"/>
            </a:avLst>
          </a:prstGeom>
          <a:solidFill>
            <a:srgbClr val="F2F1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b="1">
                <a:solidFill>
                  <a:srgbClr val="0B0B0B"/>
                </a:solidFill>
                <a:latin typeface="Calibri" panose="020F0502020204030204" pitchFamily="34" charset="0"/>
              </a:rPr>
              <a:t>Two of four pre-set success criteria met. The misses are reported, not patched.</a:t>
            </a:r>
            <a:endParaRPr lang="en-IN" sz="1900" b="1">
              <a:solidFill>
                <a:srgbClr val="0B0B0B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47228F-C7A7-817F-6F6A-83FFF0340196}"/>
              </a:ext>
            </a:extLst>
          </p:cNvPr>
          <p:cNvSpPr txBox="1"/>
          <p:nvPr/>
        </p:nvSpPr>
        <p:spPr>
          <a:xfrm>
            <a:off x="548640" y="6446520"/>
            <a:ext cx="11094415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>
                <a:solidFill>
                  <a:srgbClr val="8A8982"/>
                </a:solidFill>
                <a:latin typeface="Calibri" panose="020F0502020204030204" pitchFamily="34" charset="0"/>
              </a:rPr>
              <a:t>EnduroSense   |   11</a:t>
            </a:r>
          </a:p>
        </p:txBody>
      </p:sp>
    </p:spTree>
    <p:extLst>
      <p:ext uri="{BB962C8B-B14F-4D97-AF65-F5344CB8AC3E}">
        <p14:creationId xmlns:p14="http://schemas.microsoft.com/office/powerpoint/2010/main" val="1236772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D5FFC6-2244-556C-0897-CA50704899B5}"/>
              </a:ext>
            </a:extLst>
          </p:cNvPr>
          <p:cNvSpPr txBox="1"/>
          <p:nvPr/>
        </p:nvSpPr>
        <p:spPr>
          <a:xfrm>
            <a:off x="548640" y="384048"/>
            <a:ext cx="11094415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1F5FAE"/>
                </a:solidFill>
                <a:latin typeface="Calibri" panose="020F0502020204030204" pitchFamily="34" charset="0"/>
              </a:rPr>
              <a:t>Why the numbers can be trusted</a:t>
            </a:r>
            <a:endParaRPr lang="en-IN" sz="3000" b="1">
              <a:solidFill>
                <a:srgbClr val="1F5FAE"/>
              </a:solidFill>
              <a:latin typeface="Calibri" panose="020F05020202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7258F0A-3D04-7A90-AC9A-D7DECA0402D6}"/>
              </a:ext>
            </a:extLst>
          </p:cNvPr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 w="12700">
            <a:solidFill>
              <a:srgbClr val="D9D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2542D81-B414-0CEE-DF01-B7D37388104A}"/>
              </a:ext>
            </a:extLst>
          </p:cNvPr>
          <p:cNvSpPr txBox="1"/>
          <p:nvPr/>
        </p:nvSpPr>
        <p:spPr>
          <a:xfrm>
            <a:off x="548640" y="1463040"/>
            <a:ext cx="11094415" cy="31495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54000" indent="-254000">
              <a:spcAft>
                <a:spcPts val="1400"/>
              </a:spcAft>
              <a:buClr>
                <a:srgbClr val="1F5FAE"/>
              </a:buClr>
              <a:buFont typeface="+mj-lt"/>
              <a:buChar char="•"/>
            </a:pPr>
            <a:r>
              <a:rPr lang="en-US" sz="1900" b="1">
                <a:solidFill>
                  <a:srgbClr val="0B0B0B"/>
                </a:solidFill>
                <a:latin typeface="Calibri" panose="020F0502020204030204" pitchFamily="34" charset="0"/>
              </a:rPr>
              <a:t>A locked test set,</a:t>
            </a:r>
            <a:r>
              <a:rPr lang="en-US" sz="1900">
                <a:solidFill>
                  <a:srgbClr val="0B0B0B"/>
                </a:solidFill>
                <a:latin typeface="Calibri" panose="020F0502020204030204" pitchFamily="34" charset="0"/>
              </a:rPr>
              <a:t> chosen before any modelling. Every opening is logged: the evaluation, and one rerun after verification that gave identical numbers.</a:t>
            </a:r>
          </a:p>
          <a:p>
            <a:pPr marL="254000" indent="-254000">
              <a:spcAft>
                <a:spcPts val="1400"/>
              </a:spcAft>
              <a:buClr>
                <a:srgbClr val="1F5FAE"/>
              </a:buClr>
              <a:buFont typeface="+mj-lt"/>
              <a:buChar char="•"/>
            </a:pPr>
            <a:r>
              <a:rPr lang="en-US" sz="1900" b="1">
                <a:solidFill>
                  <a:srgbClr val="0B0B0B"/>
                </a:solidFill>
                <a:latin typeface="Calibri" panose="020F0502020204030204" pitchFamily="34" charset="0"/>
              </a:rPr>
              <a:t>Success criteria written down first,</a:t>
            </a:r>
            <a:r>
              <a:rPr lang="en-US" sz="1900">
                <a:solidFill>
                  <a:srgbClr val="0B0B0B"/>
                </a:solidFill>
                <a:latin typeface="Calibri" panose="020F0502020204030204" pitchFamily="34" charset="0"/>
              </a:rPr>
              <a:t> so they could not be adjusted after seeing results.</a:t>
            </a:r>
          </a:p>
          <a:p>
            <a:pPr marL="254000" indent="-254000">
              <a:spcAft>
                <a:spcPts val="1400"/>
              </a:spcAft>
              <a:buClr>
                <a:srgbClr val="1F5FAE"/>
              </a:buClr>
              <a:buFont typeface="+mj-lt"/>
              <a:buChar char="•"/>
            </a:pPr>
            <a:r>
              <a:rPr lang="en-US" sz="1900" b="1">
                <a:solidFill>
                  <a:srgbClr val="0B0B0B"/>
                </a:solidFill>
                <a:latin typeface="Calibri" panose="020F0502020204030204" pitchFamily="34" charset="0"/>
              </a:rPr>
              <a:t>One command rebuilds everything</a:t>
            </a:r>
            <a:r>
              <a:rPr lang="en-US" sz="1900">
                <a:solidFill>
                  <a:srgbClr val="0B0B0B"/>
                </a:solidFill>
                <a:latin typeface="Calibri" panose="020F0502020204030204" pitchFamily="34" charset="0"/>
              </a:rPr>
              <a:t> from the raw data in 30 minutes. A rebuild with empty caches reproduced every result and model file byte for byte.</a:t>
            </a:r>
          </a:p>
          <a:p>
            <a:pPr marL="254000" indent="-254000">
              <a:spcAft>
                <a:spcPts val="1400"/>
              </a:spcAft>
              <a:buClr>
                <a:srgbClr val="1F5FAE"/>
              </a:buClr>
              <a:buFont typeface="+mj-lt"/>
              <a:buChar char="•"/>
            </a:pPr>
            <a:r>
              <a:rPr lang="en-US" sz="1900" b="1">
                <a:solidFill>
                  <a:srgbClr val="0B0B0B"/>
                </a:solidFill>
                <a:latin typeface="Calibri" panose="020F0502020204030204" pitchFamily="34" charset="0"/>
              </a:rPr>
              <a:t>Five verification passes:</a:t>
            </a:r>
            <a:r>
              <a:rPr lang="en-US" sz="1900">
                <a:solidFill>
                  <a:srgbClr val="0B0B0B"/>
                </a:solidFill>
                <a:latin typeface="Calibri" panose="020F0502020204030204" pitchFamily="34" charset="0"/>
              </a:rPr>
              <a:t> headline numbers recomputed with separate code, a search for leakage, and deliberate bugs planted to confirm the tests catch them.</a:t>
            </a:r>
          </a:p>
          <a:p>
            <a:pPr marL="254000" indent="-254000">
              <a:spcAft>
                <a:spcPts val="1400"/>
              </a:spcAft>
              <a:buClr>
                <a:srgbClr val="1F5FAE"/>
              </a:buClr>
              <a:buFont typeface="+mj-lt"/>
              <a:buChar char="•"/>
            </a:pPr>
            <a:r>
              <a:rPr lang="en-US" sz="1900" b="1">
                <a:solidFill>
                  <a:srgbClr val="0B0B0B"/>
                </a:solidFill>
                <a:latin typeface="Calibri" panose="020F0502020204030204" pitchFamily="34" charset="0"/>
              </a:rPr>
              <a:t>Errors found were written up,</a:t>
            </a:r>
            <a:r>
              <a:rPr lang="en-US" sz="1900">
                <a:solidFill>
                  <a:srgbClr val="0B0B0B"/>
                </a:solidFill>
                <a:latin typeface="Calibri" panose="020F0502020204030204" pitchFamily="34" charset="0"/>
              </a:rPr>
              <a:t> including the ones in our own reporting.</a:t>
            </a:r>
            <a:endParaRPr lang="en-IN" sz="1900">
              <a:solidFill>
                <a:srgbClr val="0B0B0B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4B681A-970A-03EA-50D8-4759C88A6FB6}"/>
              </a:ext>
            </a:extLst>
          </p:cNvPr>
          <p:cNvSpPr txBox="1"/>
          <p:nvPr/>
        </p:nvSpPr>
        <p:spPr>
          <a:xfrm>
            <a:off x="548640" y="6446520"/>
            <a:ext cx="11094415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>
                <a:solidFill>
                  <a:srgbClr val="8A8982"/>
                </a:solidFill>
                <a:latin typeface="Calibri" panose="020F0502020204030204" pitchFamily="34" charset="0"/>
              </a:rPr>
              <a:t>EnduroSense   |   12</a:t>
            </a:r>
          </a:p>
        </p:txBody>
      </p:sp>
    </p:spTree>
    <p:extLst>
      <p:ext uri="{BB962C8B-B14F-4D97-AF65-F5344CB8AC3E}">
        <p14:creationId xmlns:p14="http://schemas.microsoft.com/office/powerpoint/2010/main" val="142055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E8F167-C630-2149-C961-33331C3790B5}"/>
              </a:ext>
            </a:extLst>
          </p:cNvPr>
          <p:cNvSpPr txBox="1"/>
          <p:nvPr/>
        </p:nvSpPr>
        <p:spPr>
          <a:xfrm>
            <a:off x="548640" y="384048"/>
            <a:ext cx="11094415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3000" b="1">
                <a:solidFill>
                  <a:srgbClr val="1F5FAE"/>
                </a:solidFill>
                <a:latin typeface="Calibri" panose="020F0502020204030204" pitchFamily="34" charset="0"/>
              </a:rPr>
              <a:t>Demo and next steps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AF732F-9884-05DC-937B-D8D4DF147170}"/>
              </a:ext>
            </a:extLst>
          </p:cNvPr>
          <p:cNvCxnSpPr/>
          <p:nvPr/>
        </p:nvCxnSpPr>
        <p:spPr>
          <a:xfrm>
            <a:off x="548640" y="1188720"/>
            <a:ext cx="11094415" cy="0"/>
          </a:xfrm>
          <a:prstGeom prst="line">
            <a:avLst/>
          </a:prstGeom>
          <a:ln w="12700">
            <a:solidFill>
              <a:srgbClr val="D9D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294DE1A-3701-B63D-69DD-FA8D63D5E0C6}"/>
              </a:ext>
            </a:extLst>
          </p:cNvPr>
          <p:cNvSpPr txBox="1"/>
          <p:nvPr/>
        </p:nvSpPr>
        <p:spPr>
          <a:xfrm>
            <a:off x="548640" y="1463040"/>
            <a:ext cx="530352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2200" b="1">
                <a:solidFill>
                  <a:srgbClr val="1F5FAE"/>
                </a:solidFill>
                <a:latin typeface="Calibri" panose="020F0502020204030204" pitchFamily="34" charset="0"/>
              </a:rPr>
              <a:t>Live dashboard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42EC81-0AA0-7078-6CF1-6EE0086189F6}"/>
              </a:ext>
            </a:extLst>
          </p:cNvPr>
          <p:cNvSpPr txBox="1"/>
          <p:nvPr/>
        </p:nvSpPr>
        <p:spPr>
          <a:xfrm>
            <a:off x="548640" y="2103120"/>
            <a:ext cx="5303520" cy="269304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54000" indent="-254000">
              <a:spcAft>
                <a:spcPts val="1000"/>
              </a:spcAft>
              <a:buClr>
                <a:srgbClr val="1F5FAE"/>
              </a:buClr>
              <a:buFont typeface="+mj-lt"/>
              <a:buChar char="•"/>
            </a:pPr>
            <a:r>
              <a:rPr lang="en-US" b="1">
                <a:solidFill>
                  <a:srgbClr val="0B0B0B"/>
                </a:solidFill>
                <a:latin typeface="Calibri" panose="020F0502020204030204" pitchFamily="34" charset="0"/>
              </a:rPr>
              <a:t>Three missions, one battery:</a:t>
            </a:r>
            <a:r>
              <a:rPr lang="en-US">
                <a:solidFill>
                  <a:srgbClr val="0B0B0B"/>
                </a:solidFill>
                <a:latin typeface="Calibri" panose="020F0502020204030204" pitchFamily="34" charset="0"/>
              </a:rPr>
              <a:t> the case on the earlier slide, live.</a:t>
            </a:r>
          </a:p>
          <a:p>
            <a:pPr marL="254000" indent="-254000">
              <a:spcAft>
                <a:spcPts val="1000"/>
              </a:spcAft>
              <a:buClr>
                <a:srgbClr val="1F5FAE"/>
              </a:buClr>
              <a:buFont typeface="+mj-lt"/>
              <a:buChar char="•"/>
            </a:pPr>
            <a:r>
              <a:rPr lang="en-US" b="1">
                <a:solidFill>
                  <a:srgbClr val="0B0B0B"/>
                </a:solidFill>
                <a:latin typeface="Calibri" panose="020F0502020204030204" pitchFamily="34" charset="0"/>
              </a:rPr>
              <a:t>Mission check:</a:t>
            </a:r>
            <a:r>
              <a:rPr lang="en-US">
                <a:solidFill>
                  <a:srgbClr val="0B0B0B"/>
                </a:solidFill>
                <a:latin typeface="Calibri" panose="020F0502020204030204" pitchFamily="34" charset="0"/>
              </a:rPr>
              <a:t> any unseen battery, any planned or recorded mission.</a:t>
            </a:r>
          </a:p>
          <a:p>
            <a:pPr marL="254000" indent="-254000">
              <a:spcAft>
                <a:spcPts val="1000"/>
              </a:spcAft>
              <a:buClr>
                <a:srgbClr val="1F5FAE"/>
              </a:buClr>
              <a:buFont typeface="+mj-lt"/>
              <a:buChar char="•"/>
            </a:pPr>
            <a:r>
              <a:rPr lang="en-US" b="1">
                <a:solidFill>
                  <a:srgbClr val="0B0B0B"/>
                </a:solidFill>
                <a:latin typeface="Calibri" panose="020F0502020204030204" pitchFamily="34" charset="0"/>
              </a:rPr>
              <a:t>Fleet:</a:t>
            </a:r>
            <a:r>
              <a:rPr lang="en-US">
                <a:solidFill>
                  <a:srgbClr val="0B0B0B"/>
                </a:solidFill>
                <a:latin typeface="Calibri" panose="020F0502020204030204" pitchFamily="34" charset="0"/>
              </a:rPr>
              <a:t> the simulation with adjustable fleet, workload and threshold.</a:t>
            </a:r>
          </a:p>
          <a:p>
            <a:pPr marL="254000" indent="-254000">
              <a:spcAft>
                <a:spcPts val="1000"/>
              </a:spcAft>
              <a:buClr>
                <a:srgbClr val="1F5FAE"/>
              </a:buClr>
              <a:buFont typeface="+mj-lt"/>
              <a:buChar char="•"/>
            </a:pPr>
            <a:r>
              <a:rPr lang="en-US" b="1">
                <a:solidFill>
                  <a:srgbClr val="0B0B0B"/>
                </a:solidFill>
                <a:latin typeface="Calibri" panose="020F0502020204030204" pitchFamily="34" charset="0"/>
              </a:rPr>
              <a:t>Results:</a:t>
            </a:r>
            <a:r>
              <a:rPr lang="en-US">
                <a:solidFill>
                  <a:srgbClr val="0B0B0B"/>
                </a:solidFill>
                <a:latin typeface="Calibri" panose="020F0502020204030204" pitchFamily="34" charset="0"/>
              </a:rPr>
              <a:t> every table in this talk, read from the result files.</a:t>
            </a:r>
            <a:endParaRPr lang="en-IN">
              <a:solidFill>
                <a:srgbClr val="0B0B0B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7F8AAB-39B7-F894-2960-A95928719ED2}"/>
              </a:ext>
            </a:extLst>
          </p:cNvPr>
          <p:cNvSpPr txBox="1"/>
          <p:nvPr/>
        </p:nvSpPr>
        <p:spPr>
          <a:xfrm>
            <a:off x="6309360" y="1463040"/>
            <a:ext cx="539496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2200" b="1">
                <a:solidFill>
                  <a:srgbClr val="1F5FAE"/>
                </a:solidFill>
                <a:latin typeface="Calibri" panose="020F0502020204030204" pitchFamily="34" charset="0"/>
              </a:rPr>
              <a:t>Next steps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342C0F-62A7-9957-75B4-397842602DEF}"/>
              </a:ext>
            </a:extLst>
          </p:cNvPr>
          <p:cNvSpPr txBox="1"/>
          <p:nvPr/>
        </p:nvSpPr>
        <p:spPr>
          <a:xfrm>
            <a:off x="6309360" y="2103120"/>
            <a:ext cx="5394960" cy="25442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54000" indent="-254000">
              <a:spcAft>
                <a:spcPts val="1000"/>
              </a:spcAft>
              <a:buClr>
                <a:srgbClr val="1F5FAE"/>
              </a:buClr>
              <a:buFont typeface="+mj-lt"/>
              <a:buChar char="•"/>
            </a:pPr>
            <a:r>
              <a:rPr lang="en-US">
                <a:solidFill>
                  <a:srgbClr val="0B0B0B"/>
                </a:solidFill>
                <a:latin typeface="Calibri" panose="020F0502020204030204" pitchFamily="34" charset="0"/>
              </a:rPr>
              <a:t>More batteries and longer routes: the two missed criteria are data limits.</a:t>
            </a:r>
          </a:p>
          <a:p>
            <a:pPr marL="254000" indent="-254000">
              <a:spcAft>
                <a:spcPts val="1000"/>
              </a:spcAft>
              <a:buClr>
                <a:srgbClr val="1F5FAE"/>
              </a:buClr>
              <a:buFont typeface="+mj-lt"/>
              <a:buChar char="•"/>
            </a:pPr>
            <a:r>
              <a:rPr lang="en-US">
                <a:solidFill>
                  <a:srgbClr val="0B0B0B"/>
                </a:solidFill>
                <a:latin typeface="Calibri" panose="020F0502020204030204" pitchFamily="34" charset="0"/>
              </a:rPr>
              <a:t>Learn each battery’s capacity as it flies, to remove the per-battery risk.</a:t>
            </a:r>
          </a:p>
          <a:p>
            <a:pPr marL="254000" indent="-254000">
              <a:spcAft>
                <a:spcPts val="1000"/>
              </a:spcAft>
              <a:buClr>
                <a:srgbClr val="1F5FAE"/>
              </a:buClr>
              <a:buFont typeface="+mj-lt"/>
              <a:buChar char="•"/>
            </a:pPr>
            <a:r>
              <a:rPr lang="en-US">
                <a:solidFill>
                  <a:srgbClr val="0B0B0B"/>
                </a:solidFill>
                <a:latin typeface="Calibri" panose="020F0502020204030204" pitchFamily="34" charset="0"/>
              </a:rPr>
              <a:t>Widen the mission range outside trained routes.</a:t>
            </a:r>
          </a:p>
          <a:p>
            <a:pPr marL="254000" indent="-254000">
              <a:spcAft>
                <a:spcPts val="1000"/>
              </a:spcAft>
              <a:buClr>
                <a:srgbClr val="1F5FAE"/>
              </a:buClr>
              <a:buFont typeface="+mj-lt"/>
              <a:buChar char="•"/>
            </a:pPr>
            <a:r>
              <a:rPr lang="en-US">
                <a:solidFill>
                  <a:srgbClr val="0B0B0B"/>
                </a:solidFill>
                <a:latin typeface="Calibri" panose="020F0502020204030204" pitchFamily="34" charset="0"/>
              </a:rPr>
              <a:t>Time the model on on-board hardware.</a:t>
            </a:r>
          </a:p>
          <a:p>
            <a:pPr marL="254000" indent="-254000">
              <a:spcAft>
                <a:spcPts val="1000"/>
              </a:spcAft>
              <a:buClr>
                <a:srgbClr val="1F5FAE"/>
              </a:buClr>
              <a:buFont typeface="+mj-lt"/>
              <a:buChar char="•"/>
            </a:pPr>
            <a:r>
              <a:rPr lang="en-US">
                <a:solidFill>
                  <a:srgbClr val="0B0B0B"/>
                </a:solidFill>
                <a:latin typeface="Calibri" panose="020F0502020204030204" pitchFamily="34" charset="0"/>
              </a:rPr>
              <a:t>Confirm the reserve and threshold with the guide.</a:t>
            </a:r>
            <a:endParaRPr lang="en-IN">
              <a:solidFill>
                <a:srgbClr val="0B0B0B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2391A2-CE55-F082-9780-C4D2A0B38C15}"/>
              </a:ext>
            </a:extLst>
          </p:cNvPr>
          <p:cNvSpPr txBox="1"/>
          <p:nvPr/>
        </p:nvSpPr>
        <p:spPr>
          <a:xfrm>
            <a:off x="548640" y="6446520"/>
            <a:ext cx="11094415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100">
                <a:solidFill>
                  <a:srgbClr val="8A8982"/>
                </a:solidFill>
                <a:latin typeface="Calibri" panose="020F0502020204030204" pitchFamily="34" charset="0"/>
              </a:rPr>
              <a:t>EnduroSense   |   13</a:t>
            </a:r>
          </a:p>
        </p:txBody>
      </p:sp>
    </p:spTree>
    <p:extLst>
      <p:ext uri="{BB962C8B-B14F-4D97-AF65-F5344CB8AC3E}">
        <p14:creationId xmlns:p14="http://schemas.microsoft.com/office/powerpoint/2010/main" val="2995287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1583</Words>
  <Application>Microsoft Office PowerPoint</Application>
  <PresentationFormat>Custom</PresentationFormat>
  <Paragraphs>141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Harikrishnan</dc:creator>
  <cp:lastModifiedBy>Aditya Harikrishnan</cp:lastModifiedBy>
  <cp:revision>1</cp:revision>
  <dcterms:created xsi:type="dcterms:W3CDTF">2026-10-04T11:29:10Z</dcterms:created>
  <dcterms:modified xsi:type="dcterms:W3CDTF">2026-10-04T11:29:10Z</dcterms:modified>
</cp:coreProperties>
</file>