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119FD-76A5-461B-B4E2-112CBCD92D0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D68E7-BC36-4BC6-A31A-FA07550A7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172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 sentence: instead of predicting minutes of flight left, EnduroSense predicts whether a given battery can complete a given mission, and how sure it is.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99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1-in-8 figure is the test-set result: 12.4% of missions that would fail are approved by the minutes-left rule.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90220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Reserve: 22.6 V at rest. Energy available means energy above that reserve, so a successful mission ends with the reserve intact.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91982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chain reconstruction matters: without it, the same battery would appear in both training and test, and every result would be optimistic.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0644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Error is in watt-hours; a pack has about 65 Wh usable above the reserve, so 2.2 Wh is about 3%.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027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Only planning-time inputs are used: distance, commanded speed, payload, altitude, expected wind.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55268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Model A's ranges were about right on test (93.8%, slightly wide). Model B's were too narrow on new data (80% against 90%): a real weakness, reported as such.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01140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Real test data, picked by a fixed rule. Missions: Flight 177: route R1, 10 m/s, 0 g, 25 m | 2 sorties on one battery: flights 166, 167 | Flight 248: route R1, 4 m/s, 250 g, 75 m. The minutes-left rule says GO for all three.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05163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Unsafe approval = a mission approved that would have cut into the reserve, as a share of all such missions. Evaluated by pairing real unseen battery states with real unseen missions.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8247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Only the pairing of batteries with tasks is simulated. Best estimates plus a fixed margin tuned in development sits close to EnduroSense here: slightly fewer unsafe missions, more battery swaps.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59574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weaknesses were found on the test set. Fixing them and re-scoring on the same test set would make the numbers dishonest, so they are reported as they are.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3663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verification log (docs/verification_log.md) lists what each pass found and fixed.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5759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Run: streamlit run app/streamlit_app.py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9D68E7-BC36-4BC6-A31A-FA07550A78D9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8997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FDE9D-949E-AC75-CC18-4BB3CBF2D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F682D8-0B7D-11BD-C03C-212E38620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27312-E3E9-7665-80BC-50C7AB959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F40CC-2BE0-521D-5B17-F2DD9B38E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DAF0A-87BC-B569-2CE4-D360DB8A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9045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2973A-8A6A-E05F-E156-1447F88E2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72988-81CE-6E64-D8CC-51DC28409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599E81-C86E-84A9-FB00-AB62DE54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E48BC-EEAD-D3A7-F85A-82C599B5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06712-0FEC-E8A2-3DD1-50AEC0243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721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E372A-6688-2420-741D-ECE3BA596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A1266-8961-1EAC-033B-7921CC7D4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69785-9EEC-412A-452C-641CDD8F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08464-9906-0022-CA4E-A159AA311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7D090-2E66-37F1-9593-C18948A96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32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A259D-72E7-1374-1313-1DBD2FE88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C52F8-C002-5385-24FD-8FC2FEE8E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3BB2B-FF38-94F2-0F93-60B19A893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32FC2-E37A-88D2-2016-51E53D62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59931-EC71-F06F-2AFB-D9B81461E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14B47-69F5-56E4-A789-7E50A9CF5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2528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95B38-58BE-0040-98AF-1EC3972A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C51A2E-91D3-A466-0430-A72B2C60A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E3F0BA-C559-0950-C95B-FDF2D5AF16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0B16D-0F03-8829-206A-174A76A38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08A705-9466-91DA-7008-C94B6418A4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0F5C1A-7E3A-83AD-EF79-C946B6E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964E7-CD8A-48B0-3025-4029135E4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BA9BCF-3C1C-6CCB-5A7C-1192F7A0A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538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42F74-2B0C-0F50-9D2D-E356A0CEB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34B5B2-C77E-AFF7-3BF7-9C86CA7F9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44BA-4DDC-80B7-90CE-99C29740B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653F8-D82B-6F44-D3A5-012A6F08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9961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A6D832-54F7-94DB-9B3C-1BBD75309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9A3AF-AA7C-1FB9-A5DB-B507DFB33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38480-7796-E085-B3C5-6155645E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1086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30B59-5EB1-A53A-EE4C-16D83D5A0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8CF74-3A00-326C-259D-B15F1C4A4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A62D6-4277-EB37-C3E0-A88D09A8F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9B742D-D8A1-6827-E9B3-D04B77E9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92A2DF-9CB0-B4B9-A2AA-B959AF7C4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7403B4-54E6-C432-258D-49BEE1BC5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522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B694C-446E-44E6-81D5-23F4423F9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52AD4-FB34-924D-D7CB-8650B8B461D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0D5AF-06D1-AE4F-5331-260AD33F39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EB70BC-A489-6B5D-F1AE-5F47254C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F6A52D-D433-D613-2A16-141B63E0B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6B23-9C48-74E5-C5D3-06A8C6166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7580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D841E-7389-3557-6EA5-85D5A2D14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675EE7-4A25-C14C-AE83-685127BF8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3F56B-BF78-830D-890B-7139B3B40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124A1-FFDD-19C9-E03E-85054DFBC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02B19-7439-CA3B-DCD4-AB1EC5A4B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3708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96049-ED56-ECD9-F2AF-E7677E15B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1D00DE-1A91-A46F-A57A-8937078E3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C823F-1766-9492-A6FE-5FCD0C9A3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DE6E6-2E54-CE3C-7925-E066AB9D1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98E31-3151-D8EB-A6DA-749906A53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4740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2C4E93-59CB-244F-A2B6-8195605F2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42EB01-831E-B7DB-5E84-6E3F287F7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6BE67-3BE6-E4B4-2E60-2CB865395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B4BE67-C782-407E-AB74-B6F0632D8A8C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EA72C-0C79-EE91-D37F-2C561FD17F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F12F-B05A-1090-3772-D5149A04DA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29E50-C3D9-45BC-89A7-75ED05AA6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2629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11B58-9FE8-05FD-9FE4-F72BA6360DC9}"/>
              </a:ext>
            </a:extLst>
          </p:cNvPr>
          <p:cNvSpPr txBox="1"/>
          <p:nvPr/>
        </p:nvSpPr>
        <p:spPr>
          <a:xfrm>
            <a:off x="548640" y="2011680"/>
            <a:ext cx="11094415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6000" b="1">
                <a:solidFill>
                  <a:srgbClr val="1F5FAE"/>
                </a:solidFill>
                <a:latin typeface="Calibri" panose="020F0502020204030204" pitchFamily="34" charset="0"/>
              </a:rPr>
              <a:t>EnduroSense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F4E24-DBCC-2461-7CDC-BA2379C1CD56}"/>
              </a:ext>
            </a:extLst>
          </p:cNvPr>
          <p:cNvSpPr txBox="1"/>
          <p:nvPr/>
        </p:nvSpPr>
        <p:spPr>
          <a:xfrm>
            <a:off x="548640" y="3154680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3000">
                <a:solidFill>
                  <a:srgbClr val="0B0B0B"/>
                </a:solidFill>
                <a:latin typeface="Calibri" panose="020F0502020204030204" pitchFamily="34" charset="0"/>
              </a:rPr>
              <a:t>Can this battery fly this mission?</a:t>
            </a:r>
            <a:endParaRPr lang="en-IN" sz="30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7B923-2CB0-94F1-A180-C80C8E5A50D5}"/>
              </a:ext>
            </a:extLst>
          </p:cNvPr>
          <p:cNvSpPr txBox="1"/>
          <p:nvPr/>
        </p:nvSpPr>
        <p:spPr>
          <a:xfrm>
            <a:off x="548640" y="4114800"/>
            <a:ext cx="11094415" cy="74892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52514E"/>
                </a:solidFill>
                <a:latin typeface="Calibri" panose="020F0502020204030204" pitchFamily="34" charset="0"/>
              </a:rPr>
              <a:t>Uncertainty-aware mission feasibility prediction for UAVs.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52514E"/>
                </a:solidFill>
                <a:latin typeface="Calibri" panose="020F0502020204030204" pitchFamily="34" charset="0"/>
              </a:rPr>
              <a:t>An extension of the intern project “ML-Based UAV Battery / Remaining Flight-Time Prediction”.</a:t>
            </a:r>
            <a:endParaRPr lang="en-IN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762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D7DEC6-EFA7-1221-3D2C-F8CADB655F3A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The brief asks for minutes left. A scheduler needs a different answer.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033BC60-0639-E188-82CD-B753A423D7FF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DEB5F32-50A4-4B89-CE98-DCDB71012634}"/>
              </a:ext>
            </a:extLst>
          </p:cNvPr>
          <p:cNvSpPr txBox="1"/>
          <p:nvPr/>
        </p:nvSpPr>
        <p:spPr>
          <a:xfrm>
            <a:off x="548640" y="1463040"/>
            <a:ext cx="5760720" cy="322139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2000" b="1">
                <a:solidFill>
                  <a:srgbClr val="0B0B0B"/>
                </a:solidFill>
                <a:latin typeface="Calibri" panose="020F0502020204030204" pitchFamily="34" charset="0"/>
              </a:rPr>
              <a:t>The brief:</a:t>
            </a:r>
            <a:r>
              <a:rPr lang="en-US" sz="2000">
                <a:solidFill>
                  <a:srgbClr val="0B0B0B"/>
                </a:solidFill>
                <a:latin typeface="Calibri" panose="020F0502020204030204" pitchFamily="34" charset="0"/>
              </a:rPr>
              <a:t> predict the remaining flight time of a UAV battery.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2000" b="1">
                <a:solidFill>
                  <a:srgbClr val="0B0B0B"/>
                </a:solidFill>
                <a:latin typeface="Calibri" panose="020F0502020204030204" pitchFamily="34" charset="0"/>
              </a:rPr>
              <a:t>The trouble with minutes:</a:t>
            </a:r>
            <a:r>
              <a:rPr lang="en-US" sz="2000">
                <a:solidFill>
                  <a:srgbClr val="0B0B0B"/>
                </a:solidFill>
                <a:latin typeface="Calibri" panose="020F0502020204030204" pitchFamily="34" charset="0"/>
              </a:rPr>
              <a:t> they are computed from the power being drawn now. A drone that is hovering or descending looks as if it has plenty of time, whatever the next mission needs.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2000" b="1">
                <a:solidFill>
                  <a:srgbClr val="0B0B0B"/>
                </a:solidFill>
                <a:latin typeface="Calibri" panose="020F0502020204030204" pitchFamily="34" charset="0"/>
              </a:rPr>
              <a:t>A single number hides how sure it is.</a:t>
            </a:r>
            <a:r>
              <a:rPr lang="en-US" sz="2000">
                <a:solidFill>
                  <a:srgbClr val="0B0B0B"/>
                </a:solidFill>
                <a:latin typeface="Calibri" panose="020F0502020204030204" pitchFamily="34" charset="0"/>
              </a:rPr>
              <a:t> Two batteries can show the same estimate while one is far less certain.</a:t>
            </a:r>
            <a:endParaRPr lang="en-IN" sz="20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5F0129-4DF6-CFCE-2D11-313DC72577E1}"/>
              </a:ext>
            </a:extLst>
          </p:cNvPr>
          <p:cNvSpPr/>
          <p:nvPr/>
        </p:nvSpPr>
        <p:spPr>
          <a:xfrm>
            <a:off x="6766560" y="1737360"/>
            <a:ext cx="4846320" cy="1371600"/>
          </a:xfrm>
          <a:prstGeom prst="roundRect">
            <a:avLst>
              <a:gd name="adj" fmla="val 12000"/>
            </a:avLst>
          </a:prstGeom>
          <a:solidFill>
            <a:srgbClr val="F2F1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200">
                <a:solidFill>
                  <a:srgbClr val="0B0B0B"/>
                </a:solidFill>
                <a:latin typeface="Calibri" panose="020F0502020204030204" pitchFamily="34" charset="0"/>
              </a:rPr>
              <a:t>Minutes left ≥ mission duration?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C852B-0287-DF47-DE2B-E652CAD92F28}"/>
              </a:ext>
            </a:extLst>
          </p:cNvPr>
          <p:cNvSpPr txBox="1"/>
          <p:nvPr/>
        </p:nvSpPr>
        <p:spPr>
          <a:xfrm>
            <a:off x="6766560" y="3246120"/>
            <a:ext cx="484632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1600">
                <a:solidFill>
                  <a:srgbClr val="C0392B"/>
                </a:solidFill>
                <a:latin typeface="Calibri" panose="020F0502020204030204" pitchFamily="34" charset="0"/>
              </a:rPr>
              <a:t>approves 1 in 8 missions that would cut into the reserve</a:t>
            </a:r>
            <a:endParaRPr lang="en-IN" sz="1600">
              <a:solidFill>
                <a:srgbClr val="C0392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9A940D-1DC0-107A-AF01-17CC6D3FE835}"/>
              </a:ext>
            </a:extLst>
          </p:cNvPr>
          <p:cNvSpPr/>
          <p:nvPr/>
        </p:nvSpPr>
        <p:spPr>
          <a:xfrm>
            <a:off x="6766560" y="4114800"/>
            <a:ext cx="4846320" cy="13716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1F5FAE"/>
                </a:solidFill>
                <a:latin typeface="Calibri" panose="020F0502020204030204" pitchFamily="34" charset="0"/>
              </a:rPr>
              <a:t>What is the chance this battery has the energy this mission needs?</a:t>
            </a:r>
            <a:endParaRPr lang="en-IN" sz="22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D20A-8E5E-360A-7457-A7207E09A2FD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2</a:t>
            </a:r>
          </a:p>
        </p:txBody>
      </p:sp>
    </p:spTree>
    <p:extLst>
      <p:ext uri="{BB962C8B-B14F-4D97-AF65-F5344CB8AC3E}">
        <p14:creationId xmlns:p14="http://schemas.microsoft.com/office/powerpoint/2010/main" val="1584865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6A4CEA-02DE-AF40-E47D-2B01DADF99A4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The idea: predict two energies, each with an honest range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9DE2A2D-3D14-AC73-9DD0-6718F42AB76C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F2F23C-F06F-AE93-F869-AF0101F921FE}"/>
              </a:ext>
            </a:extLst>
          </p:cNvPr>
          <p:cNvSpPr/>
          <p:nvPr/>
        </p:nvSpPr>
        <p:spPr>
          <a:xfrm>
            <a:off x="548640" y="1737360"/>
            <a:ext cx="3291840" cy="18288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200" b="1">
                <a:solidFill>
                  <a:srgbClr val="1F5FAE"/>
                </a:solidFill>
                <a:latin typeface="Calibri" panose="020F0502020204030204" pitchFamily="34" charset="0"/>
              </a:rPr>
              <a:t>Energy available
(Model 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C93C7-2DE0-5D06-43E9-3638BC28BEBE}"/>
              </a:ext>
            </a:extLst>
          </p:cNvPr>
          <p:cNvSpPr txBox="1"/>
          <p:nvPr/>
        </p:nvSpPr>
        <p:spPr>
          <a:xfrm>
            <a:off x="548640" y="3657600"/>
            <a:ext cx="329184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From battery telemetry: how many watt-hours are left above a safe reserve.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45784B7-1537-BC5C-2795-DB1B59B7FFAA}"/>
              </a:ext>
            </a:extLst>
          </p:cNvPr>
          <p:cNvSpPr/>
          <p:nvPr/>
        </p:nvSpPr>
        <p:spPr>
          <a:xfrm>
            <a:off x="4434840" y="1737360"/>
            <a:ext cx="3291840" cy="182880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200" b="1">
                <a:solidFill>
                  <a:srgbClr val="B4491C"/>
                </a:solidFill>
                <a:latin typeface="Calibri" panose="020F0502020204030204" pitchFamily="34" charset="0"/>
              </a:rPr>
              <a:t>Energy required
(Model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A6C9C5-DE32-1BC7-773E-53AB9D7B994D}"/>
              </a:ext>
            </a:extLst>
          </p:cNvPr>
          <p:cNvSpPr txBox="1"/>
          <p:nvPr/>
        </p:nvSpPr>
        <p:spPr>
          <a:xfrm>
            <a:off x="4434840" y="3657600"/>
            <a:ext cx="329184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From the mission plan: distance, speed, payload, altitude, wind.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BF8B972-570F-353E-DAB5-339CEA0E073F}"/>
              </a:ext>
            </a:extLst>
          </p:cNvPr>
          <p:cNvSpPr/>
          <p:nvPr/>
        </p:nvSpPr>
        <p:spPr>
          <a:xfrm>
            <a:off x="7863840" y="2331720"/>
            <a:ext cx="640080" cy="640080"/>
          </a:xfrm>
          <a:prstGeom prst="rightArrow">
            <a:avLst/>
          </a:prstGeom>
          <a:solidFill>
            <a:srgbClr val="9A99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E7702D-A69A-DE53-2E50-32CCE50D0BB1}"/>
              </a:ext>
            </a:extLst>
          </p:cNvPr>
          <p:cNvSpPr/>
          <p:nvPr/>
        </p:nvSpPr>
        <p:spPr>
          <a:xfrm>
            <a:off x="8641080" y="1737360"/>
            <a:ext cx="3017520" cy="1828800"/>
          </a:xfrm>
          <a:prstGeom prst="roundRect">
            <a:avLst>
              <a:gd name="adj" fmla="val 12000"/>
            </a:avLst>
          </a:prstGeom>
          <a:solidFill>
            <a:srgbClr val="E8F5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>
                <a:solidFill>
                  <a:srgbClr val="0C7A0C"/>
                </a:solidFill>
                <a:latin typeface="Calibri" panose="020F0502020204030204" pitchFamily="34" charset="0"/>
              </a:rPr>
              <a:t>P(success)
≥ 95% 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C3CC8C-BF9A-DDB0-392E-84E51DF4B5B9}"/>
              </a:ext>
            </a:extLst>
          </p:cNvPr>
          <p:cNvSpPr txBox="1"/>
          <p:nvPr/>
        </p:nvSpPr>
        <p:spPr>
          <a:xfrm>
            <a:off x="8641080" y="3657600"/>
            <a:ext cx="301752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Approve only if the battery covers the mission with high probability.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F74B52-F39E-AAAC-F395-260F58435A53}"/>
              </a:ext>
            </a:extLst>
          </p:cNvPr>
          <p:cNvSpPr txBox="1"/>
          <p:nvPr/>
        </p:nvSpPr>
        <p:spPr>
          <a:xfrm>
            <a:off x="548640" y="5394960"/>
            <a:ext cx="11094415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Energy adds up across the parts of a mission; minutes do not. A range says how sure each prediction is.</a:t>
            </a:r>
            <a:endParaRPr lang="en-IN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949780-DD21-59AF-5C60-E4F698921311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3</a:t>
            </a:r>
          </a:p>
        </p:txBody>
      </p:sp>
    </p:spTree>
    <p:extLst>
      <p:ext uri="{BB962C8B-B14F-4D97-AF65-F5344CB8AC3E}">
        <p14:creationId xmlns:p14="http://schemas.microsoft.com/office/powerpoint/2010/main" val="2702197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163896-A2B5-392B-AADB-94D1C93F5E46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Data: 209 real flights, and a test set locked away from the start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B874E-B2C1-CD27-A96B-B7F3A388542E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095B82-6271-EE77-5DD9-C69DD9ECD4A6}"/>
              </a:ext>
            </a:extLst>
          </p:cNvPr>
          <p:cNvSpPr txBox="1"/>
          <p:nvPr/>
        </p:nvSpPr>
        <p:spPr>
          <a:xfrm>
            <a:off x="548640" y="1554480"/>
            <a:ext cx="25603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209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0CE9E-C239-3D36-59A4-EB696BA148F7}"/>
              </a:ext>
            </a:extLst>
          </p:cNvPr>
          <p:cNvSpPr txBox="1"/>
          <p:nvPr/>
        </p:nvSpPr>
        <p:spPr>
          <a:xfrm>
            <a:off x="548640" y="2423160"/>
            <a:ext cx="2560320" cy="68736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flights of a DJI Matrice 100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(Carnegie Mellon, public)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4C9159-1CDC-B560-F97E-628BCEAD413F}"/>
              </a:ext>
            </a:extLst>
          </p:cNvPr>
          <p:cNvSpPr txBox="1"/>
          <p:nvPr/>
        </p:nvSpPr>
        <p:spPr>
          <a:xfrm>
            <a:off x="3383280" y="1554480"/>
            <a:ext cx="25603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90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C3187-A3B3-C9F9-D122-2D2B5D443042}"/>
              </a:ext>
            </a:extLst>
          </p:cNvPr>
          <p:cNvSpPr txBox="1"/>
          <p:nvPr/>
        </p:nvSpPr>
        <p:spPr>
          <a:xfrm>
            <a:off x="3383280" y="2423160"/>
            <a:ext cx="2560320" cy="93358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battery chains: flights linked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by battery from rest voltages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8F0101-A343-F4F2-38C2-8073C1229949}"/>
              </a:ext>
            </a:extLst>
          </p:cNvPr>
          <p:cNvSpPr txBox="1"/>
          <p:nvPr/>
        </p:nvSpPr>
        <p:spPr>
          <a:xfrm>
            <a:off x="6217920" y="1554480"/>
            <a:ext cx="25603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A8F984-1330-4736-E435-96DD5159F0C6}"/>
              </a:ext>
            </a:extLst>
          </p:cNvPr>
          <p:cNvSpPr txBox="1"/>
          <p:nvPr/>
        </p:nvSpPr>
        <p:spPr>
          <a:xfrm>
            <a:off x="6217920" y="2423160"/>
            <a:ext cx="2560320" cy="93358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chains (40 flights) locked away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before any modelling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751FB-411F-5309-E19A-917C9C124720}"/>
              </a:ext>
            </a:extLst>
          </p:cNvPr>
          <p:cNvSpPr txBox="1"/>
          <p:nvPr/>
        </p:nvSpPr>
        <p:spPr>
          <a:xfrm>
            <a:off x="9052560" y="1554480"/>
            <a:ext cx="25603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0BC57F-0BED-F5C5-13C6-DFE7EB9ACA11}"/>
              </a:ext>
            </a:extLst>
          </p:cNvPr>
          <p:cNvSpPr txBox="1"/>
          <p:nvPr/>
        </p:nvSpPr>
        <p:spPr>
          <a:xfrm>
            <a:off x="9052560" y="2423160"/>
            <a:ext cx="2560320" cy="11798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success criteria written down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before the test set was opened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C7B619-2729-1FC2-EC86-635A2BCEF539}"/>
              </a:ext>
            </a:extLst>
          </p:cNvPr>
          <p:cNvSpPr txBox="1"/>
          <p:nvPr/>
        </p:nvSpPr>
        <p:spPr>
          <a:xfrm>
            <a:off x="548640" y="4114800"/>
            <a:ext cx="11094415" cy="17338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Never split a battery: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readings from one battery are not independent, so a battery is entirely in training or entirely in test.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The test set includes routes never flown in development,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among them the longest.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Data problems found and fixed: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start times sorted as text, four mis-logged times, a sign error in the dataset’s documentation.</a:t>
            </a:r>
            <a:endParaRPr lang="en-IN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0D851B-2CC2-5BC5-4FA0-9C7D2204EC14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4</a:t>
            </a:r>
          </a:p>
        </p:txBody>
      </p:sp>
    </p:spTree>
    <p:extLst>
      <p:ext uri="{BB962C8B-B14F-4D97-AF65-F5344CB8AC3E}">
        <p14:creationId xmlns:p14="http://schemas.microsoft.com/office/powerpoint/2010/main" val="3841425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FD455-7A3E-E944-F41E-CDD2189AE2E0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3000" b="1">
                <a:solidFill>
                  <a:srgbClr val="1F5FAE"/>
                </a:solidFill>
                <a:latin typeface="Calibri" panose="020F0502020204030204" pitchFamily="34" charset="0"/>
              </a:rPr>
              <a:t>Model A: energy available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53BF7C-D9C1-A295-7DD4-55FDC73B0857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7965855-66DC-010A-E1F7-CA017F3C653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371600"/>
            <a:ext cx="6766560" cy="3383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00D3BA-A292-856E-3088-B878B6A3922F}"/>
              </a:ext>
            </a:extLst>
          </p:cNvPr>
          <p:cNvSpPr txBox="1"/>
          <p:nvPr/>
        </p:nvSpPr>
        <p:spPr>
          <a:xfrm>
            <a:off x="7589520" y="1463040"/>
            <a:ext cx="4114800" cy="33547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All five algorithms in the brief compared,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plus three baselines that need no machine learning.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Main model: five GRUs averaged.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2.19 Wh error on unseen batteries, against 2.90 Wh for the best non-ML method.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A single GRU won in development but not on test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(2.81 Wh). The ensemble is what held up.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Fast enough for on-board use: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6 ms or less per prediction on a laptop CPU.</a:t>
            </a:r>
            <a:endParaRPr lang="en-IN" sz="17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ACF97-7856-867F-3A14-EC75D99E04C2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5</a:t>
            </a:r>
          </a:p>
        </p:txBody>
      </p:sp>
    </p:spTree>
    <p:extLst>
      <p:ext uri="{BB962C8B-B14F-4D97-AF65-F5344CB8AC3E}">
        <p14:creationId xmlns:p14="http://schemas.microsoft.com/office/powerpoint/2010/main" val="4002692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8EC320-DE3B-2F66-C83F-63CC0912C2D7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Model B: energy a mission needs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68D7537-B2AA-A890-7E09-F2F808638E4C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CA1096B-BF60-B133-6AC3-C8867D875F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417320"/>
            <a:ext cx="5120640" cy="42062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BA511A-A64B-54E9-BDE2-C3DBC5C36B08}"/>
              </a:ext>
            </a:extLst>
          </p:cNvPr>
          <p:cNvSpPr txBox="1"/>
          <p:nvPr/>
        </p:nvSpPr>
        <p:spPr>
          <a:xfrm>
            <a:off x="6035040" y="1463040"/>
            <a:ext cx="5669280" cy="256993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Built from the mission’s parts: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climb, each cruise leg (power × time), hover, descent, ground.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Physics first, ML corrects it: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rotor physics gives the shape, XGBoost fixes what physics misses.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3.1% error on unseen flights: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2.6% on the trained route, 5.7% on routes never seen.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On the longest unseen route it over-predicts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(the safe direction) and misses our 5% target.</a:t>
            </a:r>
            <a:endParaRPr lang="en-IN" sz="17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ABB711-30CE-CE5A-7A26-93F07BE1F726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6</a:t>
            </a:r>
          </a:p>
        </p:txBody>
      </p:sp>
    </p:spTree>
    <p:extLst>
      <p:ext uri="{BB962C8B-B14F-4D97-AF65-F5344CB8AC3E}">
        <p14:creationId xmlns:p14="http://schemas.microsoft.com/office/powerpoint/2010/main" val="38216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AE2047-E7DE-6200-6B11-9398C71EAE4D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Honest ranges: how sure is each prediction?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A1A751-F5F3-291E-303F-261C50C514B1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4F1B3E-9E28-C2C4-EAE4-FAE7CDBA370A}"/>
              </a:ext>
            </a:extLst>
          </p:cNvPr>
          <p:cNvSpPr txBox="1"/>
          <p:nvPr/>
        </p:nvSpPr>
        <p:spPr>
          <a:xfrm>
            <a:off x="548640" y="1463040"/>
            <a:ext cx="5486400" cy="12618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A “90% range” should contain the truth about 90% of the time on data the model has not seen. Both ranges are set from the models’ errors on held-out batteries and flights, with every battery counted equally.</a:t>
            </a:r>
            <a:endParaRPr lang="en-IN" sz="19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7631646-E809-6C60-3A88-8E27490742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751097"/>
              </p:ext>
            </p:extLst>
          </p:nvPr>
        </p:nvGraphicFramePr>
        <p:xfrm>
          <a:off x="548640" y="3657600"/>
          <a:ext cx="5486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3243053648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652850138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4083250972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l"/>
                      <a:r>
                        <a:rPr lang="en-IN" sz="1700" b="1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90% range covers</a:t>
                      </a:r>
                    </a:p>
                  </a:txBody>
                  <a:tcPr>
                    <a:solidFill>
                      <a:srgbClr val="DCE8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1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Development</a:t>
                      </a:r>
                    </a:p>
                  </a:txBody>
                  <a:tcPr>
                    <a:solidFill>
                      <a:srgbClr val="DCE8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1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>
                    <a:solidFill>
                      <a:srgbClr val="DC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2869785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Energy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89.5%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93.8%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45894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Energy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91.5%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700" b="0">
                          <a:solidFill>
                            <a:srgbClr val="0B0B0B"/>
                          </a:solidFill>
                          <a:latin typeface="Calibri" panose="020F0502020204030204" pitchFamily="34" charset="0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67793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60AF13D-C281-2B6C-7B83-710DC9F011E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120" y="1371600"/>
            <a:ext cx="4846320" cy="41283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082C0-C8F6-F3AA-F887-77A1E15E7341}"/>
              </a:ext>
            </a:extLst>
          </p:cNvPr>
          <p:cNvSpPr txBox="1"/>
          <p:nvPr/>
        </p:nvSpPr>
        <p:spPr>
          <a:xfrm>
            <a:off x="6675120" y="5623560"/>
            <a:ext cx="484632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400">
                <a:solidFill>
                  <a:srgbClr val="52514E"/>
                </a:solidFill>
                <a:latin typeface="Calibri" panose="020F0502020204030204" pitchFamily="34" charset="0"/>
              </a:rPr>
              <a:t>P(success) against what happened, on test. Missions rated 95–99% succeeded 94%.</a:t>
            </a:r>
            <a:endParaRPr lang="en-IN" sz="14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856CE-5CFB-D062-F54A-597D61EF263B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7</a:t>
            </a:r>
          </a:p>
        </p:txBody>
      </p:sp>
    </p:spTree>
    <p:extLst>
      <p:ext uri="{BB962C8B-B14F-4D97-AF65-F5344CB8AC3E}">
        <p14:creationId xmlns:p14="http://schemas.microsoft.com/office/powerpoint/2010/main" val="3245751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0C7BE-8CA5-2EA8-1374-1E4CE7300A32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Three missions, one battery: the brief’s rule approves all three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1E3DDE-263C-0773-3B48-945BFDAF4F0E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A5E637C-BB8D-4CFA-66D6-999F47BA7BF5}"/>
              </a:ext>
            </a:extLst>
          </p:cNvPr>
          <p:cNvSpPr txBox="1"/>
          <p:nvPr/>
        </p:nvSpPr>
        <p:spPr>
          <a:xfrm>
            <a:off x="548640" y="1325880"/>
            <a:ext cx="11094415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52514E"/>
                </a:solidFill>
                <a:latin typeface="Calibri" panose="020F0502020204030204" pitchFamily="34" charset="0"/>
              </a:rPr>
              <a:t>An unseen battery before take-off (chain 86). The model says 38 Wh above reserve; 33 Wh were really there. Diamonds show what was measured.</a:t>
            </a:r>
            <a:endParaRPr lang="en-IN" sz="17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63E059-4026-A1E7-E517-FBBAEB3667F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103120"/>
            <a:ext cx="11094415" cy="277360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8B0193A-3047-79EE-9894-7E46B8349944}"/>
              </a:ext>
            </a:extLst>
          </p:cNvPr>
          <p:cNvSpPr/>
          <p:nvPr/>
        </p:nvSpPr>
        <p:spPr>
          <a:xfrm>
            <a:off x="850392" y="507492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E8F5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>
                <a:solidFill>
                  <a:srgbClr val="0C7A0C"/>
                </a:solidFill>
                <a:latin typeface="Calibri" panose="020F0502020204030204" pitchFamily="34" charset="0"/>
              </a:rPr>
              <a:t>GO: EnduroSense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F55858-FF62-A4FE-7FDC-BCB846255617}"/>
              </a:ext>
            </a:extLst>
          </p:cNvPr>
          <p:cNvSpPr/>
          <p:nvPr/>
        </p:nvSpPr>
        <p:spPr>
          <a:xfrm>
            <a:off x="4617720" y="507492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>
                <a:solidFill>
                  <a:srgbClr val="C0392B"/>
                </a:solidFill>
                <a:latin typeface="Calibri" panose="020F0502020204030204" pitchFamily="34" charset="0"/>
              </a:rPr>
              <a:t>NO-GO: EnduroSense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238497-BC92-2251-1B33-B4B3CE5EF727}"/>
              </a:ext>
            </a:extLst>
          </p:cNvPr>
          <p:cNvSpPr/>
          <p:nvPr/>
        </p:nvSpPr>
        <p:spPr>
          <a:xfrm>
            <a:off x="8385048" y="507492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E8F5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>
                <a:solidFill>
                  <a:srgbClr val="0C7A0C"/>
                </a:solidFill>
                <a:latin typeface="Calibri" panose="020F0502020204030204" pitchFamily="34" charset="0"/>
              </a:rPr>
              <a:t>GO: EnduroSense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EB3679-D8C8-98B7-980C-12DD2CAE2833}"/>
              </a:ext>
            </a:extLst>
          </p:cNvPr>
          <p:cNvSpPr txBox="1"/>
          <p:nvPr/>
        </p:nvSpPr>
        <p:spPr>
          <a:xfrm>
            <a:off x="850392" y="5669280"/>
            <a:ext cx="310896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IN" sz="1500">
                <a:solidFill>
                  <a:srgbClr val="52514E"/>
                </a:solidFill>
                <a:latin typeface="Calibri" panose="020F0502020204030204" pitchFamily="34" charset="0"/>
              </a:rPr>
              <a:t>needed 14 Wh: fine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C8938A-2D6D-BB5F-F40C-F8C8DED3FB90}"/>
              </a:ext>
            </a:extLst>
          </p:cNvPr>
          <p:cNvSpPr txBox="1"/>
          <p:nvPr/>
        </p:nvSpPr>
        <p:spPr>
          <a:xfrm>
            <a:off x="4617720" y="5669280"/>
            <a:ext cx="310896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1500">
                <a:solidFill>
                  <a:srgbClr val="52514E"/>
                </a:solidFill>
                <a:latin typeface="Calibri" panose="020F0502020204030204" pitchFamily="34" charset="0"/>
              </a:rPr>
              <a:t>needed 38 Wh: 5 Wh into the reserve</a:t>
            </a:r>
            <a:endParaRPr lang="en-IN" sz="15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80175C-CBC0-6EE0-DE6B-6771A95E75B0}"/>
              </a:ext>
            </a:extLst>
          </p:cNvPr>
          <p:cNvSpPr txBox="1"/>
          <p:nvPr/>
        </p:nvSpPr>
        <p:spPr>
          <a:xfrm>
            <a:off x="8385048" y="5669280"/>
            <a:ext cx="310896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IN" sz="1500">
                <a:solidFill>
                  <a:srgbClr val="52514E"/>
                </a:solidFill>
                <a:latin typeface="Calibri" panose="020F0502020204030204" pitchFamily="34" charset="0"/>
              </a:rPr>
              <a:t>needed 28 Wh: fine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52F7C4-AEA2-5A65-0E1D-A7FD198B9AC4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8</a:t>
            </a:r>
          </a:p>
        </p:txBody>
      </p:sp>
    </p:spTree>
    <p:extLst>
      <p:ext uri="{BB962C8B-B14F-4D97-AF65-F5344CB8AC3E}">
        <p14:creationId xmlns:p14="http://schemas.microsoft.com/office/powerpoint/2010/main" val="1928032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DFBF29-0A3A-59A0-6001-BD9BCCA27C54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Result: unsafe approvals fall from 12% to under 1%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D975B18-8677-D5C1-DFA7-142E162F586A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1694364-8980-4C87-237E-A6237ABF5D8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371600"/>
            <a:ext cx="7315200" cy="3062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B08EE4-2657-844F-AEBE-16B44F5B87CA}"/>
              </a:ext>
            </a:extLst>
          </p:cNvPr>
          <p:cNvSpPr txBox="1"/>
          <p:nvPr/>
        </p:nvSpPr>
        <p:spPr>
          <a:xfrm>
            <a:off x="8229600" y="1371600"/>
            <a:ext cx="34747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0.61%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F5ECF0-47D3-8C2D-F4B8-77D0993605CA}"/>
              </a:ext>
            </a:extLst>
          </p:cNvPr>
          <p:cNvSpPr txBox="1"/>
          <p:nvPr/>
        </p:nvSpPr>
        <p:spPr>
          <a:xfrm>
            <a:off x="8229600" y="2240280"/>
            <a:ext cx="3474720" cy="93358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of failing missions approved by EnduroSense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(test set, all battery states)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431865-093C-40A1-5273-FC67989C03A0}"/>
              </a:ext>
            </a:extLst>
          </p:cNvPr>
          <p:cNvSpPr txBox="1"/>
          <p:nvPr/>
        </p:nvSpPr>
        <p:spPr>
          <a:xfrm>
            <a:off x="8229600" y="3291840"/>
            <a:ext cx="347472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0C7A0C"/>
                </a:solidFill>
                <a:latin typeface="Calibri" panose="020F0502020204030204" pitchFamily="34" charset="0"/>
              </a:rPr>
              <a:t>0.00%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C4DD54-E4F4-C1CC-B482-FAA78B7269F5}"/>
              </a:ext>
            </a:extLst>
          </p:cNvPr>
          <p:cNvSpPr txBox="1"/>
          <p:nvPr/>
        </p:nvSpPr>
        <p:spPr>
          <a:xfrm>
            <a:off x="8229600" y="4160520"/>
            <a:ext cx="347472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1600">
                <a:solidFill>
                  <a:srgbClr val="52514E"/>
                </a:solidFill>
                <a:latin typeface="Calibri" panose="020F0502020204030204" pitchFamily="34" charset="0"/>
              </a:rPr>
              <a:t>at take-off decisions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44848-C4FE-73DA-46D4-65F5DAC5C8E3}"/>
              </a:ext>
            </a:extLst>
          </p:cNvPr>
          <p:cNvSpPr txBox="1"/>
          <p:nvPr/>
        </p:nvSpPr>
        <p:spPr>
          <a:xfrm>
            <a:off x="548640" y="4846320"/>
            <a:ext cx="11094415" cy="7181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8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The price is caution: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it refuses 24% of missions that would have succeeded, mostly those within a few Wh of the limit.</a:t>
            </a:r>
          </a:p>
          <a:p>
            <a:pPr marL="254000" indent="-254000">
              <a:spcAft>
                <a:spcPts val="8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700" b="1">
                <a:solidFill>
                  <a:srgbClr val="0B0B0B"/>
                </a:solidFill>
                <a:latin typeface="Calibri" panose="020F0502020204030204" pitchFamily="34" charset="0"/>
              </a:rPr>
              <a:t>Minutes-left cannot be rescued with a safety margin:</a:t>
            </a:r>
            <a:r>
              <a:rPr lang="en-US" sz="1700">
                <a:solidFill>
                  <a:srgbClr val="0B0B0B"/>
                </a:solidFill>
                <a:latin typeface="Calibri" panose="020F0502020204030204" pitchFamily="34" charset="0"/>
              </a:rPr>
              <a:t> to be as safe it must refuse 9 in 10 feasible missions.</a:t>
            </a:r>
            <a:endParaRPr lang="en-IN" sz="17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2CB54F-9746-06DB-FB46-A08DE8DFFFED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9</a:t>
            </a:r>
          </a:p>
        </p:txBody>
      </p:sp>
    </p:spTree>
    <p:extLst>
      <p:ext uri="{BB962C8B-B14F-4D97-AF65-F5344CB8AC3E}">
        <p14:creationId xmlns:p14="http://schemas.microsoft.com/office/powerpoint/2010/main" val="1365433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2854FF-432E-B365-3554-371C50AF57BF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In a simulated fleet on unseen batteries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008794F-F5BB-DB14-6884-6D25F05AF255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3093DE6-D74F-3A53-C9D3-D29E92F7FCB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371600"/>
            <a:ext cx="7132320" cy="36490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329C6B-D15A-C784-E4BD-889A33450453}"/>
              </a:ext>
            </a:extLst>
          </p:cNvPr>
          <p:cNvSpPr txBox="1"/>
          <p:nvPr/>
        </p:nvSpPr>
        <p:spPr>
          <a:xfrm>
            <a:off x="8138160" y="1463040"/>
            <a:ext cx="356616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4400" b="1">
                <a:solidFill>
                  <a:srgbClr val="1F5FAE"/>
                </a:solidFill>
                <a:latin typeface="Calibri" panose="020F0502020204030204" pitchFamily="34" charset="0"/>
              </a:rPr>
              <a:t>16×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D636E8-A56B-4963-7EC9-6135F742802C}"/>
              </a:ext>
            </a:extLst>
          </p:cNvPr>
          <p:cNvSpPr txBox="1"/>
          <p:nvPr/>
        </p:nvSpPr>
        <p:spPr>
          <a:xfrm>
            <a:off x="8138160" y="2331720"/>
            <a:ext cx="356616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52514E"/>
                </a:solidFill>
                <a:latin typeface="Calibri" panose="020F0502020204030204" pitchFamily="34" charset="0"/>
              </a:rPr>
              <a:t>fewer unsafe missions than the brief’s rule</a:t>
            </a:r>
            <a:endParaRPr lang="en-IN" sz="16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E94E1-5519-3C8F-36C4-EC8368D26F70}"/>
              </a:ext>
            </a:extLst>
          </p:cNvPr>
          <p:cNvSpPr txBox="1"/>
          <p:nvPr/>
        </p:nvSpPr>
        <p:spPr>
          <a:xfrm>
            <a:off x="8138160" y="3383280"/>
            <a:ext cx="3566160" cy="13952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n-US" sz="1700">
                <a:solidFill>
                  <a:srgbClr val="52514E"/>
                </a:solidFill>
                <a:latin typeface="Calibri" panose="020F0502020204030204" pitchFamily="34" charset="0"/>
              </a:rPr>
              <a:t>4 drones, 40 tasks a day, 200 days.</a:t>
            </a:r>
          </a:p>
          <a:p>
            <a:pPr>
              <a:spcAft>
                <a:spcPts val="1000"/>
              </a:spcAft>
            </a:pPr>
            <a:r>
              <a:rPr lang="en-US" sz="1700">
                <a:solidFill>
                  <a:srgbClr val="52514E"/>
                </a:solidFill>
                <a:latin typeface="Calibri" panose="020F0502020204030204" pitchFamily="34" charset="0"/>
              </a:rPr>
              <a:t>8 real unseen batteries; tasks are real recorded flights.</a:t>
            </a:r>
          </a:p>
          <a:p>
            <a:pPr>
              <a:spcAft>
                <a:spcPts val="1000"/>
              </a:spcAft>
            </a:pPr>
            <a:r>
              <a:rPr lang="en-US" sz="1700">
                <a:solidFill>
                  <a:srgbClr val="52514E"/>
                </a:solidFill>
                <a:latin typeface="Calibri" panose="020F0502020204030204" pitchFamily="34" charset="0"/>
              </a:rPr>
              <a:t>Cost: 10% more battery swaps.</a:t>
            </a:r>
            <a:endParaRPr lang="en-IN" sz="1700">
              <a:solidFill>
                <a:srgbClr val="52514E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A2E5E-F1E9-8E48-1FAC-C55C01E9A4EA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10</a:t>
            </a:r>
          </a:p>
        </p:txBody>
      </p:sp>
    </p:spTree>
    <p:extLst>
      <p:ext uri="{BB962C8B-B14F-4D97-AF65-F5344CB8AC3E}">
        <p14:creationId xmlns:p14="http://schemas.microsoft.com/office/powerpoint/2010/main" val="2082553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95C54F-DA45-B7C3-CDD0-1A338C8D19D3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What did not hold up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B3E1915-1E9B-93CF-CB0C-0C146613A26B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65351E5-52E1-B2F0-7D70-3A3339DBBD26}"/>
              </a:ext>
            </a:extLst>
          </p:cNvPr>
          <p:cNvSpPr txBox="1"/>
          <p:nvPr/>
        </p:nvSpPr>
        <p:spPr>
          <a:xfrm>
            <a:off x="548640" y="1463040"/>
            <a:ext cx="11094415" cy="238526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Mission model on unseen, longer routes: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5.7% error against a 5% target (over-predicted, the safe direction).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Mission model’s ranges: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80% coverage on test against a 90% target. Too narrow on new data.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The probability against a well-tuned fixed margin: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no measurable difference over all cases. The probability refused fewer feasible missions at take-off and needs no tuning.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Risk is per battery: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all of EnduroSense’s unsafe approvals came from two batteries whose capacity the model over-estimated.</a:t>
            </a:r>
            <a:endParaRPr lang="en-IN" sz="19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AA95E1-002A-B66D-84E6-6AD069D6844A}"/>
              </a:ext>
            </a:extLst>
          </p:cNvPr>
          <p:cNvSpPr/>
          <p:nvPr/>
        </p:nvSpPr>
        <p:spPr>
          <a:xfrm>
            <a:off x="548640" y="5486400"/>
            <a:ext cx="11094415" cy="822960"/>
          </a:xfrm>
          <a:prstGeom prst="roundRect">
            <a:avLst>
              <a:gd name="adj" fmla="val 12000"/>
            </a:avLst>
          </a:prstGeom>
          <a:solidFill>
            <a:srgbClr val="F2F1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Two of four pre-set success criteria met. The misses are reported, not patched.</a:t>
            </a:r>
            <a:endParaRPr lang="en-IN" sz="1900" b="1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8CC43C-3EB6-E882-EDAC-0F3C4788C30F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11</a:t>
            </a:r>
          </a:p>
        </p:txBody>
      </p:sp>
    </p:spTree>
    <p:extLst>
      <p:ext uri="{BB962C8B-B14F-4D97-AF65-F5344CB8AC3E}">
        <p14:creationId xmlns:p14="http://schemas.microsoft.com/office/powerpoint/2010/main" val="2632823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009848-8C70-A82A-7727-8BCBA8E1BC1A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3000" b="1">
                <a:solidFill>
                  <a:srgbClr val="1F5FAE"/>
                </a:solidFill>
                <a:latin typeface="Calibri" panose="020F0502020204030204" pitchFamily="34" charset="0"/>
              </a:rPr>
              <a:t>Why the numbers can be trusted</a:t>
            </a:r>
            <a:endParaRPr lang="en-IN" sz="3000" b="1">
              <a:solidFill>
                <a:srgbClr val="1F5FAE"/>
              </a:solidFill>
              <a:latin typeface="Calibri" panose="020F050202020403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892B33D-2D7E-B9A0-9F44-B93AFCDF0794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A9037D1-448C-911D-1424-5B1302E890E7}"/>
              </a:ext>
            </a:extLst>
          </p:cNvPr>
          <p:cNvSpPr txBox="1"/>
          <p:nvPr/>
        </p:nvSpPr>
        <p:spPr>
          <a:xfrm>
            <a:off x="548640" y="1463040"/>
            <a:ext cx="11094415" cy="314958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A locked test set,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chosen before any modelling. Every opening is logged: the evaluation, and one rerun after verification that gave identical numbers.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Success criteria written down first,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so they could not be adjusted after seeing results.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One command rebuilds everything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from the raw data in 30 minutes. A rebuild with empty caches reproduced every result and model file byte for byte.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Six verification passes: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headline numbers recomputed with separate code, a search for leakage, and deliberate bugs planted to confirm the tests catch them.</a:t>
            </a:r>
          </a:p>
          <a:p>
            <a:pPr marL="254000" indent="-254000">
              <a:spcAft>
                <a:spcPts val="1400"/>
              </a:spcAft>
              <a:buClr>
                <a:srgbClr val="1F5FAE"/>
              </a:buClr>
              <a:buFont typeface="+mj-lt"/>
              <a:buChar char="•"/>
            </a:pPr>
            <a:r>
              <a:rPr lang="en-US" sz="1900" b="1">
                <a:solidFill>
                  <a:srgbClr val="0B0B0B"/>
                </a:solidFill>
                <a:latin typeface="Calibri" panose="020F0502020204030204" pitchFamily="34" charset="0"/>
              </a:rPr>
              <a:t>Errors found were written up,</a:t>
            </a:r>
            <a:r>
              <a:rPr lang="en-US" sz="1900">
                <a:solidFill>
                  <a:srgbClr val="0B0B0B"/>
                </a:solidFill>
                <a:latin typeface="Calibri" panose="020F0502020204030204" pitchFamily="34" charset="0"/>
              </a:rPr>
              <a:t> including the ones in our own reporting.</a:t>
            </a:r>
            <a:endParaRPr lang="en-IN" sz="1900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C8DB9C-9F1F-2844-7223-A9EE31D6945C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12</a:t>
            </a:r>
          </a:p>
        </p:txBody>
      </p:sp>
    </p:spTree>
    <p:extLst>
      <p:ext uri="{BB962C8B-B14F-4D97-AF65-F5344CB8AC3E}">
        <p14:creationId xmlns:p14="http://schemas.microsoft.com/office/powerpoint/2010/main" val="2355521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97FD8E-1014-8405-D071-DBFDF56468F8}"/>
              </a:ext>
            </a:extLst>
          </p:cNvPr>
          <p:cNvSpPr txBox="1"/>
          <p:nvPr/>
        </p:nvSpPr>
        <p:spPr>
          <a:xfrm>
            <a:off x="548640" y="384048"/>
            <a:ext cx="11094415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3000" b="1">
                <a:solidFill>
                  <a:srgbClr val="1F5FAE"/>
                </a:solidFill>
                <a:latin typeface="Calibri" panose="020F0502020204030204" pitchFamily="34" charset="0"/>
              </a:rPr>
              <a:t>Demo and next steps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7506961-08DC-DA84-A056-9EDA8D1078A4}"/>
              </a:ext>
            </a:extLst>
          </p:cNvPr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 w="12700">
            <a:solidFill>
              <a:srgbClr val="D9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A80F894-F039-BCD9-E182-F9395EAB0F97}"/>
              </a:ext>
            </a:extLst>
          </p:cNvPr>
          <p:cNvSpPr txBox="1"/>
          <p:nvPr/>
        </p:nvSpPr>
        <p:spPr>
          <a:xfrm>
            <a:off x="548640" y="1463040"/>
            <a:ext cx="530352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2200" b="1">
                <a:solidFill>
                  <a:srgbClr val="1F5FAE"/>
                </a:solidFill>
                <a:latin typeface="Calibri" panose="020F0502020204030204" pitchFamily="34" charset="0"/>
              </a:rPr>
              <a:t>Live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26DD3-2379-DB57-139B-8408F01F76D7}"/>
              </a:ext>
            </a:extLst>
          </p:cNvPr>
          <p:cNvSpPr txBox="1"/>
          <p:nvPr/>
        </p:nvSpPr>
        <p:spPr>
          <a:xfrm>
            <a:off x="548640" y="2103120"/>
            <a:ext cx="530352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Three missions, one battery: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the case on the earlier slide, live.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Mission check: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any unseen battery, any planned or recorded mission.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Fleet: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the simulation with adjustable fleet, workload and threshold.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 b="1">
                <a:solidFill>
                  <a:srgbClr val="0B0B0B"/>
                </a:solidFill>
                <a:latin typeface="Calibri" panose="020F0502020204030204" pitchFamily="34" charset="0"/>
              </a:rPr>
              <a:t>Results:</a:t>
            </a: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 every table in this talk, read from the result files.</a:t>
            </a:r>
            <a:endParaRPr lang="en-IN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9F7CD1-F50C-1FD4-A190-6EE4BA02272F}"/>
              </a:ext>
            </a:extLst>
          </p:cNvPr>
          <p:cNvSpPr txBox="1"/>
          <p:nvPr/>
        </p:nvSpPr>
        <p:spPr>
          <a:xfrm>
            <a:off x="6309360" y="1463040"/>
            <a:ext cx="539496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IN" sz="2200" b="1">
                <a:solidFill>
                  <a:srgbClr val="1F5FAE"/>
                </a:solidFill>
                <a:latin typeface="Calibri" panose="020F0502020204030204" pitchFamily="34" charset="0"/>
              </a:rPr>
              <a:t>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930B6F-ACAC-9CAE-D213-F94A6476EA19}"/>
              </a:ext>
            </a:extLst>
          </p:cNvPr>
          <p:cNvSpPr txBox="1"/>
          <p:nvPr/>
        </p:nvSpPr>
        <p:spPr>
          <a:xfrm>
            <a:off x="6309360" y="2103120"/>
            <a:ext cx="5394960" cy="25442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More batteries and longer routes: the two missed criteria are data limits.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Learn each battery’s capacity as it flies, to remove the per-battery risk.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Widen the mission range outside trained routes.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Time the model on on-board hardware.</a:t>
            </a:r>
          </a:p>
          <a:p>
            <a:pPr marL="254000" indent="-254000">
              <a:spcAft>
                <a:spcPts val="1000"/>
              </a:spcAft>
              <a:buClr>
                <a:srgbClr val="1F5FAE"/>
              </a:buClr>
              <a:buFont typeface="+mj-lt"/>
              <a:buChar char="•"/>
            </a:pPr>
            <a:r>
              <a:rPr lang="en-US">
                <a:solidFill>
                  <a:srgbClr val="0B0B0B"/>
                </a:solidFill>
                <a:latin typeface="Calibri" panose="020F0502020204030204" pitchFamily="34" charset="0"/>
              </a:rPr>
              <a:t>Confirm the reserve and threshold with the guide.</a:t>
            </a:r>
            <a:endParaRPr lang="en-IN">
              <a:solidFill>
                <a:srgbClr val="0B0B0B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FC058-8D4D-05A4-C176-369413CCA2EF}"/>
              </a:ext>
            </a:extLst>
          </p:cNvPr>
          <p:cNvSpPr txBox="1"/>
          <p:nvPr/>
        </p:nvSpPr>
        <p:spPr>
          <a:xfrm>
            <a:off x="548640" y="6446520"/>
            <a:ext cx="11094415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IN" sz="1100">
                <a:solidFill>
                  <a:srgbClr val="8A8982"/>
                </a:solidFill>
                <a:latin typeface="Calibri" panose="020F0502020204030204" pitchFamily="34" charset="0"/>
              </a:rPr>
              <a:t>EnduroSense   |   13</a:t>
            </a:r>
          </a:p>
        </p:txBody>
      </p:sp>
    </p:spTree>
    <p:extLst>
      <p:ext uri="{BB962C8B-B14F-4D97-AF65-F5344CB8AC3E}">
        <p14:creationId xmlns:p14="http://schemas.microsoft.com/office/powerpoint/2010/main" val="683369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1598</Words>
  <Application>Microsoft Office PowerPoint</Application>
  <PresentationFormat>Custom</PresentationFormat>
  <Paragraphs>141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Harikrishnan</dc:creator>
  <cp:lastModifiedBy>Aditya Harikrishnan</cp:lastModifiedBy>
  <cp:revision>1</cp:revision>
  <dcterms:created xsi:type="dcterms:W3CDTF">2026-10-04T13:45:14Z</dcterms:created>
  <dcterms:modified xsi:type="dcterms:W3CDTF">2026-10-04T13:45:14Z</dcterms:modified>
</cp:coreProperties>
</file>